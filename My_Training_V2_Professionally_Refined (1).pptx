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10160">
            <a:solidFill>
              <a:srgbClr val="E9ED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7640" y="701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7640" y="777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3840" y="701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3840" y="777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074420"/>
            <a:ext cx="91440" cy="1295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3360" y="1112520"/>
            <a:ext cx="45720" cy="0"/>
          </a:xfrm>
          <a:prstGeom prst="line">
            <a:avLst/>
          </a:prstGeom>
          <a:noFill/>
          <a:ln w="11430">
            <a:solidFill>
              <a:srgbClr val="91A4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7640" y="1470660"/>
            <a:ext cx="121920" cy="9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" y="1562100"/>
            <a:ext cx="-15240" cy="30480"/>
          </a:xfrm>
          <a:prstGeom prst="line">
            <a:avLst/>
          </a:prstGeom>
          <a:noFill/>
          <a:ln w="12700">
            <a:solidFill>
              <a:srgbClr val="91A4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7640" y="1844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7640" y="1920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3840" y="1844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3840" y="1920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217420"/>
            <a:ext cx="91440" cy="1295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3360" y="2255520"/>
            <a:ext cx="45720" cy="0"/>
          </a:xfrm>
          <a:prstGeom prst="line">
            <a:avLst/>
          </a:prstGeom>
          <a:noFill/>
          <a:ln w="11430">
            <a:solidFill>
              <a:srgbClr val="91A4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7640" y="2613660"/>
            <a:ext cx="121920" cy="9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" y="2705100"/>
            <a:ext cx="-15240" cy="30480"/>
          </a:xfrm>
          <a:prstGeom prst="line">
            <a:avLst/>
          </a:prstGeom>
          <a:noFill/>
          <a:ln w="12700">
            <a:solidFill>
              <a:srgbClr val="91A4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7640" y="2987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7640" y="3063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3840" y="2987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3840" y="3063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3360420"/>
            <a:ext cx="91440" cy="1295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3360" y="3398520"/>
            <a:ext cx="45720" cy="0"/>
          </a:xfrm>
          <a:prstGeom prst="line">
            <a:avLst/>
          </a:prstGeom>
          <a:noFill/>
          <a:ln w="11430">
            <a:solidFill>
              <a:srgbClr val="91A4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7640" y="3756660"/>
            <a:ext cx="121920" cy="9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0500" y="3848100"/>
            <a:ext cx="-15240" cy="30480"/>
          </a:xfrm>
          <a:prstGeom prst="line">
            <a:avLst/>
          </a:prstGeom>
          <a:noFill/>
          <a:ln w="12700">
            <a:solidFill>
              <a:srgbClr val="91A4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7640" y="4130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7640" y="4206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3840" y="4130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3840" y="4206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4503420"/>
            <a:ext cx="91440" cy="1295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3360" y="4541520"/>
            <a:ext cx="45720" cy="0"/>
          </a:xfrm>
          <a:prstGeom prst="line">
            <a:avLst/>
          </a:prstGeom>
          <a:noFill/>
          <a:ln w="11430">
            <a:solidFill>
              <a:srgbClr val="91A4B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7640" y="4899660"/>
            <a:ext cx="121920" cy="9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0500" y="4991100"/>
            <a:ext cx="-15240" cy="30480"/>
          </a:xfrm>
          <a:prstGeom prst="line">
            <a:avLst/>
          </a:prstGeom>
          <a:noFill/>
          <a:ln w="12700">
            <a:solidFill>
              <a:srgbClr val="91A4B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960" y="5311140"/>
            <a:ext cx="335280" cy="327660"/>
          </a:xfrm>
          <a:prstGeom prst="roundRect">
            <a:avLst>
              <a:gd name="adj" fmla="val 20930"/>
            </a:avLst>
          </a:prstGeom>
          <a:solidFill>
            <a:srgbClr val="FDE9EB"/>
          </a:solidFill>
          <a:ln w="12700">
            <a:solidFill>
              <a:srgbClr val="FDE9EB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60020" y="5372100"/>
            <a:ext cx="1371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E6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◇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67640" y="5463540"/>
            <a:ext cx="121920" cy="0"/>
          </a:xfrm>
          <a:prstGeom prst="line">
            <a:avLst/>
          </a:prstGeom>
          <a:noFill/>
          <a:ln w="13970">
            <a:solidFill>
              <a:srgbClr val="E6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4300" y="6393180"/>
            <a:ext cx="251460" cy="259080"/>
          </a:xfrm>
          <a:prstGeom prst="roundRect">
            <a:avLst>
              <a:gd name="adj" fmla="val 15152"/>
            </a:avLst>
          </a:prstGeom>
          <a:solidFill>
            <a:srgbClr val="C80065"/>
          </a:solidFill>
          <a:ln w="12700">
            <a:solidFill>
              <a:srgbClr val="C80065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14300" y="6400800"/>
            <a:ext cx="2514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464820" y="0"/>
            <a:ext cx="11727180" cy="381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08660" y="129540"/>
            <a:ext cx="4724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VOIS</a:t>
            </a:r>
            <a:endParaRPr lang="en-US" sz="1725" dirty="0"/>
          </a:p>
        </p:txBody>
      </p:sp>
      <p:sp>
        <p:nvSpPr>
          <p:cNvPr id="43" name="Text 41"/>
          <p:cNvSpPr txBox="1"/>
          <p:nvPr/>
        </p:nvSpPr>
        <p:spPr>
          <a:xfrm>
            <a:off x="1150620" y="129540"/>
            <a:ext cx="6248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E6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Shield</a:t>
            </a:r>
            <a:endParaRPr lang="en-US" sz="1725" dirty="0"/>
          </a:p>
        </p:txBody>
      </p:sp>
      <p:sp>
        <p:nvSpPr>
          <p:cNvPr id="44" name="Text 42"/>
          <p:cNvSpPr txBox="1"/>
          <p:nvPr/>
        </p:nvSpPr>
        <p:spPr>
          <a:xfrm>
            <a:off x="1744980" y="129540"/>
            <a:ext cx="12192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25" dirty="0"/>
          </a:p>
        </p:txBody>
      </p:sp>
      <p:sp>
        <p:nvSpPr>
          <p:cNvPr id="45" name="Text 43"/>
          <p:cNvSpPr txBox="1"/>
          <p:nvPr/>
        </p:nvSpPr>
        <p:spPr>
          <a:xfrm>
            <a:off x="9144000" y="129540"/>
            <a:ext cx="2087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Contact:  abhay.hs1@vodafone.com</a:t>
            </a:r>
            <a:endParaRPr lang="en-US" sz="975" dirty="0"/>
          </a:p>
        </p:txBody>
      </p:sp>
      <p:sp>
        <p:nvSpPr>
          <p:cNvPr id="46" name="Shape 44"/>
          <p:cNvSpPr/>
          <p:nvPr/>
        </p:nvSpPr>
        <p:spPr>
          <a:xfrm>
            <a:off x="11353800" y="83820"/>
            <a:ext cx="495300" cy="251460"/>
          </a:xfrm>
          <a:prstGeom prst="roundRect">
            <a:avLst>
              <a:gd name="adj" fmla="val 27273"/>
            </a:avLst>
          </a:prstGeom>
          <a:solidFill>
            <a:srgbClr val="F1F3F7"/>
          </a:solidFill>
          <a:ln w="12700">
            <a:solidFill>
              <a:srgbClr val="F1F3F7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1445240" y="114300"/>
            <a:ext cx="3124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◦   ☾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09600" y="579120"/>
            <a:ext cx="11391900" cy="373380"/>
          </a:xfrm>
          <a:prstGeom prst="roundRect">
            <a:avLst>
              <a:gd name="adj" fmla="val 16327"/>
            </a:avLst>
          </a:prstGeom>
          <a:solidFill>
            <a:srgbClr val="202127"/>
          </a:solidFill>
          <a:ln w="12700">
            <a:solidFill>
              <a:srgbClr val="202127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9600" y="632460"/>
            <a:ext cx="30480" cy="25908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23900" y="624840"/>
            <a:ext cx="3314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Training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8458200" y="655320"/>
            <a:ext cx="3345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D3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assigned learning and stay resilient.</a:t>
            </a:r>
            <a:endParaRPr lang="en-US" sz="975" dirty="0"/>
          </a:p>
        </p:txBody>
      </p:sp>
      <p:sp>
        <p:nvSpPr>
          <p:cNvPr id="52" name="Text 50"/>
          <p:cNvSpPr txBox="1"/>
          <p:nvPr/>
        </p:nvSpPr>
        <p:spPr>
          <a:xfrm>
            <a:off x="11201400" y="6484620"/>
            <a:ext cx="6781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06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723900" y="1127760"/>
            <a:ext cx="53340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30" kern="0" dirty="0">
                <a:solidFill>
                  <a:srgbClr val="899D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LEARNING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723900" y="1295400"/>
            <a:ext cx="693420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 training</a:t>
            </a:r>
            <a:endParaRPr lang="en-US" sz="2700" dirty="0"/>
          </a:p>
        </p:txBody>
      </p:sp>
      <p:sp>
        <p:nvSpPr>
          <p:cNvPr id="55" name="Text 53"/>
          <p:cNvSpPr txBox="1"/>
          <p:nvPr/>
        </p:nvSpPr>
        <p:spPr>
          <a:xfrm>
            <a:off x="723900" y="1653540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assigned learning before the due date and track progress in one place.</a:t>
            </a:r>
            <a:endParaRPr lang="en-US" sz="1125" dirty="0"/>
          </a:p>
        </p:txBody>
      </p:sp>
      <p:sp>
        <p:nvSpPr>
          <p:cNvPr id="56" name="Shape 54"/>
          <p:cNvSpPr/>
          <p:nvPr/>
        </p:nvSpPr>
        <p:spPr>
          <a:xfrm>
            <a:off x="8496300" y="1226820"/>
            <a:ext cx="3337560" cy="579120"/>
          </a:xfrm>
          <a:prstGeom prst="roundRect">
            <a:avLst>
              <a:gd name="adj" fmla="val 19737"/>
            </a:avLst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602980" y="1303020"/>
            <a:ext cx="9296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680</a:t>
            </a:r>
            <a:endParaRPr lang="en-US" sz="1800" dirty="0"/>
          </a:p>
        </p:txBody>
      </p:sp>
      <p:sp>
        <p:nvSpPr>
          <p:cNvPr id="58" name="Text 56"/>
          <p:cNvSpPr txBox="1"/>
          <p:nvPr/>
        </p:nvSpPr>
        <p:spPr>
          <a:xfrm>
            <a:off x="8602980" y="1577340"/>
            <a:ext cx="929640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9532620" y="1341120"/>
            <a:ext cx="0" cy="358140"/>
          </a:xfrm>
          <a:prstGeom prst="line">
            <a:avLst/>
          </a:prstGeom>
          <a:noFill/>
          <a:ln w="8890">
            <a:solidFill>
              <a:srgbClr val="D6DDE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639300" y="1303020"/>
            <a:ext cx="9296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5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3</a:t>
            </a:r>
            <a:endParaRPr lang="en-US" sz="1800" dirty="0"/>
          </a:p>
        </p:txBody>
      </p:sp>
      <p:sp>
        <p:nvSpPr>
          <p:cNvPr id="61" name="Text 59"/>
          <p:cNvSpPr txBox="1"/>
          <p:nvPr/>
        </p:nvSpPr>
        <p:spPr>
          <a:xfrm>
            <a:off x="9639300" y="1577340"/>
            <a:ext cx="929640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LEVEL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0568940" y="1341120"/>
            <a:ext cx="0" cy="358140"/>
          </a:xfrm>
          <a:prstGeom prst="line">
            <a:avLst/>
          </a:prstGeom>
          <a:noFill/>
          <a:ln w="8890">
            <a:solidFill>
              <a:srgbClr val="D6DDE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0675620" y="1303020"/>
            <a:ext cx="9296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64" name="Text 62"/>
          <p:cNvSpPr txBox="1"/>
          <p:nvPr/>
        </p:nvSpPr>
        <p:spPr>
          <a:xfrm>
            <a:off x="10675620" y="1577340"/>
            <a:ext cx="929640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COURSES PENDING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716280" y="1950720"/>
            <a:ext cx="1607820" cy="967740"/>
          </a:xfrm>
          <a:prstGeom prst="roundRect">
            <a:avLst>
              <a:gd name="adj" fmla="val 17323"/>
            </a:avLst>
          </a:prstGeom>
          <a:solidFill>
            <a:srgbClr val="EAE3FB"/>
          </a:solidFill>
          <a:ln w="12700">
            <a:solidFill>
              <a:srgbClr val="EAE3FB">
                <a:alpha val="0"/>
              </a:srgbClr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845820" y="2095500"/>
            <a:ext cx="12801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</a:t>
            </a:r>
            <a:endParaRPr lang="en-US" sz="1800" dirty="0"/>
          </a:p>
        </p:txBody>
      </p:sp>
      <p:sp>
        <p:nvSpPr>
          <p:cNvPr id="67" name="Text 65"/>
          <p:cNvSpPr txBox="1"/>
          <p:nvPr/>
        </p:nvSpPr>
        <p:spPr>
          <a:xfrm>
            <a:off x="845820" y="2575560"/>
            <a:ext cx="129540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courses require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attention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400300" y="1950720"/>
            <a:ext cx="9395460" cy="967740"/>
          </a:xfrm>
          <a:prstGeom prst="roundRect">
            <a:avLst>
              <a:gd name="adj" fmla="val 1732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2583180" y="2095500"/>
            <a:ext cx="4648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assigned learning</a:t>
            </a:r>
            <a:endParaRPr lang="en-US" sz="1725" dirty="0"/>
          </a:p>
        </p:txBody>
      </p:sp>
      <p:sp>
        <p:nvSpPr>
          <p:cNvPr id="70" name="Text 68"/>
          <p:cNvSpPr txBox="1"/>
          <p:nvPr/>
        </p:nvSpPr>
        <p:spPr>
          <a:xfrm>
            <a:off x="2583180" y="2377440"/>
            <a:ext cx="5029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Courses are ordered by nearest due date.</a:t>
            </a:r>
            <a:endParaRPr lang="en-US" sz="975" dirty="0"/>
          </a:p>
        </p:txBody>
      </p:sp>
      <p:sp>
        <p:nvSpPr>
          <p:cNvPr id="71" name="Shape 69"/>
          <p:cNvSpPr/>
          <p:nvPr/>
        </p:nvSpPr>
        <p:spPr>
          <a:xfrm>
            <a:off x="8107680" y="2156460"/>
            <a:ext cx="1219200" cy="342900"/>
          </a:xfrm>
          <a:prstGeom prst="roundRect">
            <a:avLst>
              <a:gd name="adj" fmla="val 24444"/>
            </a:avLst>
          </a:prstGeom>
          <a:solidFill>
            <a:srgbClr val="202127"/>
          </a:solidFill>
          <a:ln w="12700">
            <a:solidFill>
              <a:srgbClr val="202127">
                <a:alpha val="0"/>
              </a:srgbClr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183880" y="2164080"/>
            <a:ext cx="10668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9395460" y="2156460"/>
            <a:ext cx="1219200" cy="342900"/>
          </a:xfrm>
          <a:prstGeom prst="roundRect">
            <a:avLst>
              <a:gd name="adj" fmla="val 24444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9471660" y="2164080"/>
            <a:ext cx="10668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9395460" y="2156460"/>
            <a:ext cx="1219200" cy="34290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9464040" y="2164080"/>
            <a:ext cx="107442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</a:t>
            </a:r>
            <a:endParaRPr lang="en-US" sz="975" dirty="0"/>
          </a:p>
        </p:txBody>
      </p:sp>
      <p:sp>
        <p:nvSpPr>
          <p:cNvPr id="77" name="Shape 75"/>
          <p:cNvSpPr/>
          <p:nvPr/>
        </p:nvSpPr>
        <p:spPr>
          <a:xfrm>
            <a:off x="10683240" y="2156460"/>
            <a:ext cx="937260" cy="34290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0728960" y="2164080"/>
            <a:ext cx="8382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⌕  Filter</a:t>
            </a:r>
            <a:endParaRPr lang="en-US" sz="975" dirty="0"/>
          </a:p>
        </p:txBody>
      </p:sp>
      <p:sp>
        <p:nvSpPr>
          <p:cNvPr id="79" name="Shape 77"/>
          <p:cNvSpPr/>
          <p:nvPr/>
        </p:nvSpPr>
        <p:spPr>
          <a:xfrm>
            <a:off x="716280" y="3032760"/>
            <a:ext cx="11079480" cy="3215640"/>
          </a:xfrm>
          <a:prstGeom prst="roundRect">
            <a:avLst>
              <a:gd name="adj" fmla="val 9005"/>
            </a:avLst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645920" y="3291840"/>
            <a:ext cx="339090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8A9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</a:t>
            </a:r>
            <a:endParaRPr lang="en-US" sz="825" dirty="0"/>
          </a:p>
        </p:txBody>
      </p:sp>
      <p:sp>
        <p:nvSpPr>
          <p:cNvPr id="81" name="Text 79"/>
          <p:cNvSpPr txBox="1"/>
          <p:nvPr/>
        </p:nvSpPr>
        <p:spPr>
          <a:xfrm>
            <a:off x="5417820" y="3291840"/>
            <a:ext cx="90678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8A9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ASSIGNED</a:t>
            </a:r>
            <a:endParaRPr lang="en-US" sz="825" dirty="0"/>
          </a:p>
        </p:txBody>
      </p:sp>
      <p:sp>
        <p:nvSpPr>
          <p:cNvPr id="82" name="Text 80"/>
          <p:cNvSpPr txBox="1"/>
          <p:nvPr/>
        </p:nvSpPr>
        <p:spPr>
          <a:xfrm>
            <a:off x="6454140" y="3291840"/>
            <a:ext cx="90678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8A9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DUE DATE</a:t>
            </a:r>
            <a:endParaRPr lang="en-US" sz="825" dirty="0"/>
          </a:p>
        </p:txBody>
      </p:sp>
      <p:sp>
        <p:nvSpPr>
          <p:cNvPr id="83" name="Text 81"/>
          <p:cNvSpPr txBox="1"/>
          <p:nvPr/>
        </p:nvSpPr>
        <p:spPr>
          <a:xfrm>
            <a:off x="7551420" y="3291840"/>
            <a:ext cx="127254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8A9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825" dirty="0"/>
          </a:p>
        </p:txBody>
      </p:sp>
      <p:sp>
        <p:nvSpPr>
          <p:cNvPr id="84" name="Text 82"/>
          <p:cNvSpPr txBox="1"/>
          <p:nvPr/>
        </p:nvSpPr>
        <p:spPr>
          <a:xfrm>
            <a:off x="8930640" y="3291840"/>
            <a:ext cx="105918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8A9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</a:t>
            </a:r>
            <a:endParaRPr lang="en-US" sz="825" dirty="0"/>
          </a:p>
        </p:txBody>
      </p:sp>
      <p:sp>
        <p:nvSpPr>
          <p:cNvPr id="85" name="Text 83"/>
          <p:cNvSpPr txBox="1"/>
          <p:nvPr/>
        </p:nvSpPr>
        <p:spPr>
          <a:xfrm>
            <a:off x="10325100" y="3291840"/>
            <a:ext cx="116586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8A9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825" dirty="0"/>
          </a:p>
        </p:txBody>
      </p:sp>
      <p:sp>
        <p:nvSpPr>
          <p:cNvPr id="86" name="Shape 84"/>
          <p:cNvSpPr/>
          <p:nvPr/>
        </p:nvSpPr>
        <p:spPr>
          <a:xfrm>
            <a:off x="876300" y="3581400"/>
            <a:ext cx="10759440" cy="868680"/>
          </a:xfrm>
          <a:prstGeom prst="roundRect">
            <a:avLst>
              <a:gd name="adj" fmla="val 1491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82980" y="3688080"/>
            <a:ext cx="472440" cy="655320"/>
          </a:xfrm>
          <a:prstGeom prst="roundRect">
            <a:avLst>
              <a:gd name="adj" fmla="val 16129"/>
            </a:avLst>
          </a:prstGeom>
          <a:solidFill>
            <a:srgbClr val="FFE0E5"/>
          </a:solidFill>
          <a:ln w="12700">
            <a:solidFill>
              <a:srgbClr val="FFE0E5">
                <a:alpha val="0"/>
              </a:srgbClr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982980" y="3726180"/>
            <a:ext cx="47244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DA2B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75" dirty="0"/>
          </a:p>
        </p:txBody>
      </p:sp>
      <p:sp>
        <p:nvSpPr>
          <p:cNvPr id="89" name="Text 87"/>
          <p:cNvSpPr txBox="1"/>
          <p:nvPr/>
        </p:nvSpPr>
        <p:spPr>
          <a:xfrm>
            <a:off x="1592580" y="3695700"/>
            <a:ext cx="361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Awareness Training – VOIS Shield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1592580" y="3977640"/>
            <a:ext cx="3352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A9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VS-T70 · Security awareness</a:t>
            </a:r>
            <a:endParaRPr lang="en-US" sz="825" dirty="0"/>
          </a:p>
        </p:txBody>
      </p:sp>
      <p:sp>
        <p:nvSpPr>
          <p:cNvPr id="91" name="Text 89"/>
          <p:cNvSpPr txBox="1"/>
          <p:nvPr/>
        </p:nvSpPr>
        <p:spPr>
          <a:xfrm>
            <a:off x="5425440" y="3802380"/>
            <a:ext cx="9067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Jan 2026</a:t>
            </a:r>
            <a:endParaRPr lang="en-US" sz="975" dirty="0"/>
          </a:p>
        </p:txBody>
      </p:sp>
      <p:sp>
        <p:nvSpPr>
          <p:cNvPr id="92" name="Text 90"/>
          <p:cNvSpPr txBox="1"/>
          <p:nvPr/>
        </p:nvSpPr>
        <p:spPr>
          <a:xfrm>
            <a:off x="6469380" y="3802380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Jan 2026</a:t>
            </a:r>
            <a:endParaRPr lang="en-US" sz="975" dirty="0"/>
          </a:p>
        </p:txBody>
      </p:sp>
      <p:sp>
        <p:nvSpPr>
          <p:cNvPr id="93" name="Shape 91"/>
          <p:cNvSpPr/>
          <p:nvPr/>
        </p:nvSpPr>
        <p:spPr>
          <a:xfrm>
            <a:off x="7536180" y="3779520"/>
            <a:ext cx="1249680" cy="327660"/>
          </a:xfrm>
          <a:prstGeom prst="roundRect">
            <a:avLst>
              <a:gd name="adj" fmla="val 20930"/>
            </a:avLst>
          </a:prstGeom>
          <a:solidFill>
            <a:srgbClr val="FFE5EA"/>
          </a:solidFill>
          <a:ln w="12700">
            <a:solidFill>
              <a:srgbClr val="FFE5EA">
                <a:alpha val="0"/>
              </a:srgbClr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7589520" y="3787140"/>
            <a:ext cx="1143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DA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Due soon</a:t>
            </a:r>
            <a:endParaRPr lang="en-US" sz="975" dirty="0"/>
          </a:p>
        </p:txBody>
      </p:sp>
      <p:sp>
        <p:nvSpPr>
          <p:cNvPr id="95" name="Text 93"/>
          <p:cNvSpPr txBox="1"/>
          <p:nvPr/>
        </p:nvSpPr>
        <p:spPr>
          <a:xfrm>
            <a:off x="9014460" y="3802380"/>
            <a:ext cx="106680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started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10287000" y="3771900"/>
            <a:ext cx="1173480" cy="342900"/>
          </a:xfrm>
          <a:prstGeom prst="roundRect">
            <a:avLst>
              <a:gd name="adj" fmla="val 24444"/>
            </a:avLst>
          </a:prstGeom>
          <a:solidFill>
            <a:srgbClr val="7CDA65"/>
          </a:solidFill>
          <a:ln w="12700">
            <a:solidFill>
              <a:srgbClr val="7CDA65">
                <a:alpha val="0"/>
              </a:srgbClr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10363200" y="3779520"/>
            <a:ext cx="10210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training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876300" y="4556760"/>
            <a:ext cx="10759440" cy="868680"/>
          </a:xfrm>
          <a:prstGeom prst="roundRect">
            <a:avLst>
              <a:gd name="adj" fmla="val 1491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82980" y="4663440"/>
            <a:ext cx="472440" cy="655320"/>
          </a:xfrm>
          <a:prstGeom prst="roundRect">
            <a:avLst>
              <a:gd name="adj" fmla="val 16129"/>
            </a:avLst>
          </a:prstGeom>
          <a:solidFill>
            <a:srgbClr val="EAE5FA"/>
          </a:solidFill>
          <a:ln w="12700">
            <a:solidFill>
              <a:srgbClr val="EAE5FA">
                <a:alpha val="0"/>
              </a:srgbClr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982980" y="4701540"/>
            <a:ext cx="47244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6455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75" dirty="0"/>
          </a:p>
        </p:txBody>
      </p:sp>
      <p:sp>
        <p:nvSpPr>
          <p:cNvPr id="101" name="Text 99"/>
          <p:cNvSpPr txBox="1"/>
          <p:nvPr/>
        </p:nvSpPr>
        <p:spPr>
          <a:xfrm>
            <a:off x="1592580" y="4671060"/>
            <a:ext cx="36195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Spams Alert and Awareness</a:t>
            </a:r>
            <a:endParaRPr lang="en-US" sz="1125" dirty="0"/>
          </a:p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for Employee Defender</a:t>
            </a:r>
            <a:endParaRPr lang="en-US" sz="1125" dirty="0"/>
          </a:p>
        </p:txBody>
      </p:sp>
      <p:sp>
        <p:nvSpPr>
          <p:cNvPr id="102" name="Text 100"/>
          <p:cNvSpPr txBox="1"/>
          <p:nvPr/>
        </p:nvSpPr>
        <p:spPr>
          <a:xfrm>
            <a:off x="1592580" y="5021580"/>
            <a:ext cx="3352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A9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VS-T70 · Security awareness</a:t>
            </a:r>
            <a:endParaRPr lang="en-US" sz="825" dirty="0"/>
          </a:p>
        </p:txBody>
      </p:sp>
      <p:sp>
        <p:nvSpPr>
          <p:cNvPr id="103" name="Text 101"/>
          <p:cNvSpPr txBox="1"/>
          <p:nvPr/>
        </p:nvSpPr>
        <p:spPr>
          <a:xfrm>
            <a:off x="5425440" y="4777740"/>
            <a:ext cx="9067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Jan 2026</a:t>
            </a:r>
            <a:endParaRPr lang="en-US" sz="975" dirty="0"/>
          </a:p>
        </p:txBody>
      </p:sp>
      <p:sp>
        <p:nvSpPr>
          <p:cNvPr id="104" name="Text 102"/>
          <p:cNvSpPr txBox="1"/>
          <p:nvPr/>
        </p:nvSpPr>
        <p:spPr>
          <a:xfrm>
            <a:off x="6469380" y="4777740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Jan 2026</a:t>
            </a:r>
            <a:endParaRPr lang="en-US" sz="975" dirty="0"/>
          </a:p>
        </p:txBody>
      </p:sp>
      <p:sp>
        <p:nvSpPr>
          <p:cNvPr id="105" name="Shape 103"/>
          <p:cNvSpPr/>
          <p:nvPr/>
        </p:nvSpPr>
        <p:spPr>
          <a:xfrm>
            <a:off x="7536180" y="4754880"/>
            <a:ext cx="1249680" cy="327660"/>
          </a:xfrm>
          <a:prstGeom prst="roundRect">
            <a:avLst>
              <a:gd name="adj" fmla="val 20930"/>
            </a:avLst>
          </a:prstGeom>
          <a:solidFill>
            <a:srgbClr val="EEE8FC"/>
          </a:solidFill>
          <a:ln w="12700">
            <a:solidFill>
              <a:srgbClr val="EEE8FC">
                <a:alpha val="0"/>
              </a:srgbClr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7589520" y="4762500"/>
            <a:ext cx="1143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85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progress</a:t>
            </a:r>
            <a:endParaRPr lang="en-US" sz="975" dirty="0"/>
          </a:p>
        </p:txBody>
      </p:sp>
      <p:sp>
        <p:nvSpPr>
          <p:cNvPr id="107" name="Shape 105"/>
          <p:cNvSpPr/>
          <p:nvPr/>
        </p:nvSpPr>
        <p:spPr>
          <a:xfrm>
            <a:off x="9052560" y="4785360"/>
            <a:ext cx="952500" cy="76200"/>
          </a:xfrm>
          <a:prstGeom prst="roundRect">
            <a:avLst>
              <a:gd name="adj" fmla="val 40000"/>
            </a:avLst>
          </a:prstGeom>
          <a:solidFill>
            <a:srgbClr val="E4E7EB"/>
          </a:solidFill>
          <a:ln w="12700">
            <a:solidFill>
              <a:srgbClr val="E4E7EB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052560" y="4785360"/>
            <a:ext cx="510540" cy="76200"/>
          </a:xfrm>
          <a:prstGeom prst="roundRect">
            <a:avLst>
              <a:gd name="adj" fmla="val 40000"/>
            </a:avLst>
          </a:prstGeom>
          <a:solidFill>
            <a:srgbClr val="7BDA65"/>
          </a:solidFill>
          <a:ln w="12700">
            <a:solidFill>
              <a:srgbClr val="7BDA65">
                <a:alpha val="0"/>
              </a:srgbClr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9014460" y="4930140"/>
            <a:ext cx="1066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54% complete</a:t>
            </a:r>
            <a:endParaRPr lang="en-US" sz="825" dirty="0"/>
          </a:p>
        </p:txBody>
      </p:sp>
      <p:sp>
        <p:nvSpPr>
          <p:cNvPr id="110" name="Shape 108"/>
          <p:cNvSpPr/>
          <p:nvPr/>
        </p:nvSpPr>
        <p:spPr>
          <a:xfrm>
            <a:off x="10287000" y="4747260"/>
            <a:ext cx="1173480" cy="342900"/>
          </a:xfrm>
          <a:prstGeom prst="roundRect">
            <a:avLst>
              <a:gd name="adj" fmla="val 24444"/>
            </a:avLst>
          </a:prstGeom>
          <a:solidFill>
            <a:srgbClr val="202127"/>
          </a:solidFill>
          <a:ln w="12700">
            <a:solidFill>
              <a:srgbClr val="202127">
                <a:alpha val="0"/>
              </a:srgbClr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10363200" y="4754880"/>
            <a:ext cx="10210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>
            <a:off x="883920" y="5852160"/>
            <a:ext cx="10744200" cy="243840"/>
          </a:xfrm>
          <a:prstGeom prst="roundRect">
            <a:avLst>
              <a:gd name="adj" fmla="val 25000"/>
            </a:avLst>
          </a:prstGeom>
          <a:solidFill>
            <a:srgbClr val="EAE4FA"/>
          </a:solidFill>
          <a:ln w="12700">
            <a:solidFill>
              <a:srgbClr val="EAE4FA">
                <a:alpha val="0"/>
              </a:srgbClr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1066800" y="5859780"/>
            <a:ext cx="112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555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summary</a:t>
            </a:r>
            <a:endParaRPr lang="en-US" sz="900" dirty="0"/>
          </a:p>
        </p:txBody>
      </p:sp>
      <p:sp>
        <p:nvSpPr>
          <p:cNvPr id="114" name="Text 112"/>
          <p:cNvSpPr txBox="1"/>
          <p:nvPr/>
        </p:nvSpPr>
        <p:spPr>
          <a:xfrm>
            <a:off x="2186940" y="5859780"/>
            <a:ext cx="678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not started   ·   1 in progress</a:t>
            </a:r>
            <a:endParaRPr lang="en-US" sz="900" dirty="0"/>
          </a:p>
        </p:txBody>
      </p:sp>
      <p:sp>
        <p:nvSpPr>
          <p:cNvPr id="115" name="Text 113"/>
          <p:cNvSpPr txBox="1"/>
          <p:nvPr/>
        </p:nvSpPr>
        <p:spPr>
          <a:xfrm>
            <a:off x="9144000" y="58597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555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courses due</a:t>
            </a:r>
            <a:endParaRPr lang="en-US" sz="900" dirty="0"/>
          </a:p>
        </p:txBody>
      </p:sp>
      <p:sp>
        <p:nvSpPr>
          <p:cNvPr id="116" name="Text 114"/>
          <p:cNvSpPr txBox="1"/>
          <p:nvPr/>
        </p:nvSpPr>
        <p:spPr>
          <a:xfrm>
            <a:off x="868680" y="6385560"/>
            <a:ext cx="13868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E6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REMINDER</a:t>
            </a:r>
            <a:endParaRPr lang="en-US" sz="750" dirty="0"/>
          </a:p>
        </p:txBody>
      </p:sp>
      <p:sp>
        <p:nvSpPr>
          <p:cNvPr id="117" name="Text 115"/>
          <p:cNvSpPr txBox="1"/>
          <p:nvPr/>
        </p:nvSpPr>
        <p:spPr>
          <a:xfrm>
            <a:off x="2263140" y="6339840"/>
            <a:ext cx="5105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Urgency is the hacker’s currency. Slow down.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10160">
            <a:solidFill>
              <a:srgbClr val="E9ED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7640" y="701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7640" y="777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3840" y="701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3840" y="777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074420"/>
            <a:ext cx="91440" cy="1295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3360" y="1112520"/>
            <a:ext cx="45720" cy="0"/>
          </a:xfrm>
          <a:prstGeom prst="line">
            <a:avLst/>
          </a:prstGeom>
          <a:noFill/>
          <a:ln w="11430">
            <a:solidFill>
              <a:srgbClr val="91A4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7640" y="1470660"/>
            <a:ext cx="121920" cy="9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" y="1562100"/>
            <a:ext cx="-15240" cy="30480"/>
          </a:xfrm>
          <a:prstGeom prst="line">
            <a:avLst/>
          </a:prstGeom>
          <a:noFill/>
          <a:ln w="12700">
            <a:solidFill>
              <a:srgbClr val="91A4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7640" y="1844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7640" y="1920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3840" y="1844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3840" y="1920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217420"/>
            <a:ext cx="91440" cy="1295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3360" y="2255520"/>
            <a:ext cx="45720" cy="0"/>
          </a:xfrm>
          <a:prstGeom prst="line">
            <a:avLst/>
          </a:prstGeom>
          <a:noFill/>
          <a:ln w="11430">
            <a:solidFill>
              <a:srgbClr val="91A4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7640" y="2613660"/>
            <a:ext cx="121920" cy="9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" y="2705100"/>
            <a:ext cx="-15240" cy="30480"/>
          </a:xfrm>
          <a:prstGeom prst="line">
            <a:avLst/>
          </a:prstGeom>
          <a:noFill/>
          <a:ln w="12700">
            <a:solidFill>
              <a:srgbClr val="91A4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7640" y="2987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7640" y="3063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3840" y="2987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3840" y="3063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3360420"/>
            <a:ext cx="91440" cy="1295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3360" y="3398520"/>
            <a:ext cx="45720" cy="0"/>
          </a:xfrm>
          <a:prstGeom prst="line">
            <a:avLst/>
          </a:prstGeom>
          <a:noFill/>
          <a:ln w="11430">
            <a:solidFill>
              <a:srgbClr val="91A4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7640" y="3756660"/>
            <a:ext cx="121920" cy="9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0500" y="3848100"/>
            <a:ext cx="-15240" cy="30480"/>
          </a:xfrm>
          <a:prstGeom prst="line">
            <a:avLst/>
          </a:prstGeom>
          <a:noFill/>
          <a:ln w="12700">
            <a:solidFill>
              <a:srgbClr val="91A4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7640" y="4130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7640" y="4206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3840" y="4130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3840" y="4206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4503420"/>
            <a:ext cx="91440" cy="1295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3360" y="4541520"/>
            <a:ext cx="45720" cy="0"/>
          </a:xfrm>
          <a:prstGeom prst="line">
            <a:avLst/>
          </a:prstGeom>
          <a:noFill/>
          <a:ln w="11430">
            <a:solidFill>
              <a:srgbClr val="91A4B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7640" y="4899660"/>
            <a:ext cx="121920" cy="9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0500" y="4991100"/>
            <a:ext cx="-15240" cy="30480"/>
          </a:xfrm>
          <a:prstGeom prst="line">
            <a:avLst/>
          </a:prstGeom>
          <a:noFill/>
          <a:ln w="12700">
            <a:solidFill>
              <a:srgbClr val="91A4B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960" y="5311140"/>
            <a:ext cx="335280" cy="327660"/>
          </a:xfrm>
          <a:prstGeom prst="roundRect">
            <a:avLst>
              <a:gd name="adj" fmla="val 20930"/>
            </a:avLst>
          </a:prstGeom>
          <a:solidFill>
            <a:srgbClr val="FDE9EB"/>
          </a:solidFill>
          <a:ln w="12700">
            <a:solidFill>
              <a:srgbClr val="FDE9EB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60020" y="5372100"/>
            <a:ext cx="1371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E6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◇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67640" y="5463540"/>
            <a:ext cx="121920" cy="0"/>
          </a:xfrm>
          <a:prstGeom prst="line">
            <a:avLst/>
          </a:prstGeom>
          <a:noFill/>
          <a:ln w="13970">
            <a:solidFill>
              <a:srgbClr val="E6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4300" y="6393180"/>
            <a:ext cx="251460" cy="259080"/>
          </a:xfrm>
          <a:prstGeom prst="roundRect">
            <a:avLst>
              <a:gd name="adj" fmla="val 15152"/>
            </a:avLst>
          </a:prstGeom>
          <a:solidFill>
            <a:srgbClr val="C80065"/>
          </a:solidFill>
          <a:ln w="12700">
            <a:solidFill>
              <a:srgbClr val="C80065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14300" y="6400800"/>
            <a:ext cx="2514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464820" y="0"/>
            <a:ext cx="11727180" cy="381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08660" y="129540"/>
            <a:ext cx="4724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VOIS</a:t>
            </a:r>
            <a:endParaRPr lang="en-US" sz="1725" dirty="0"/>
          </a:p>
        </p:txBody>
      </p:sp>
      <p:sp>
        <p:nvSpPr>
          <p:cNvPr id="43" name="Text 41"/>
          <p:cNvSpPr txBox="1"/>
          <p:nvPr/>
        </p:nvSpPr>
        <p:spPr>
          <a:xfrm>
            <a:off x="1150620" y="129540"/>
            <a:ext cx="6248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E6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Shield</a:t>
            </a:r>
            <a:endParaRPr lang="en-US" sz="1725" dirty="0"/>
          </a:p>
        </p:txBody>
      </p:sp>
      <p:sp>
        <p:nvSpPr>
          <p:cNvPr id="44" name="Text 42"/>
          <p:cNvSpPr txBox="1"/>
          <p:nvPr/>
        </p:nvSpPr>
        <p:spPr>
          <a:xfrm>
            <a:off x="1744980" y="129540"/>
            <a:ext cx="12192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25" dirty="0"/>
          </a:p>
        </p:txBody>
      </p:sp>
      <p:sp>
        <p:nvSpPr>
          <p:cNvPr id="45" name="Text 43"/>
          <p:cNvSpPr txBox="1"/>
          <p:nvPr/>
        </p:nvSpPr>
        <p:spPr>
          <a:xfrm>
            <a:off x="9144000" y="129540"/>
            <a:ext cx="2087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Contact:  abhay.hs1@vodafone.com</a:t>
            </a:r>
            <a:endParaRPr lang="en-US" sz="975" dirty="0"/>
          </a:p>
        </p:txBody>
      </p:sp>
      <p:sp>
        <p:nvSpPr>
          <p:cNvPr id="46" name="Shape 44"/>
          <p:cNvSpPr/>
          <p:nvPr/>
        </p:nvSpPr>
        <p:spPr>
          <a:xfrm>
            <a:off x="11353800" y="83820"/>
            <a:ext cx="495300" cy="251460"/>
          </a:xfrm>
          <a:prstGeom prst="roundRect">
            <a:avLst>
              <a:gd name="adj" fmla="val 27273"/>
            </a:avLst>
          </a:prstGeom>
          <a:solidFill>
            <a:srgbClr val="F1F3F7"/>
          </a:solidFill>
          <a:ln w="12700">
            <a:solidFill>
              <a:srgbClr val="F1F3F7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1445240" y="114300"/>
            <a:ext cx="3124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◦   ☾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09600" y="579120"/>
            <a:ext cx="11391900" cy="373380"/>
          </a:xfrm>
          <a:prstGeom prst="roundRect">
            <a:avLst>
              <a:gd name="adj" fmla="val 16327"/>
            </a:avLst>
          </a:prstGeom>
          <a:solidFill>
            <a:srgbClr val="202127"/>
          </a:solidFill>
          <a:ln w="12700">
            <a:solidFill>
              <a:srgbClr val="202127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9600" y="632460"/>
            <a:ext cx="30480" cy="25908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23900" y="624840"/>
            <a:ext cx="3314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Training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8458200" y="655320"/>
            <a:ext cx="3345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D3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assigned learning and stay resilient.</a:t>
            </a:r>
            <a:endParaRPr lang="en-US" sz="975" dirty="0"/>
          </a:p>
        </p:txBody>
      </p:sp>
      <p:sp>
        <p:nvSpPr>
          <p:cNvPr id="52" name="Text 50"/>
          <p:cNvSpPr txBox="1"/>
          <p:nvPr/>
        </p:nvSpPr>
        <p:spPr>
          <a:xfrm>
            <a:off x="11201400" y="6484620"/>
            <a:ext cx="6781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06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723900" y="1127760"/>
            <a:ext cx="53340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30" kern="0" dirty="0">
                <a:solidFill>
                  <a:srgbClr val="899D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LEARNING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723900" y="1295400"/>
            <a:ext cx="693420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history</a:t>
            </a:r>
            <a:endParaRPr lang="en-US" sz="2700" dirty="0"/>
          </a:p>
        </p:txBody>
      </p:sp>
      <p:sp>
        <p:nvSpPr>
          <p:cNvPr id="55" name="Text 53"/>
          <p:cNvSpPr txBox="1"/>
          <p:nvPr/>
        </p:nvSpPr>
        <p:spPr>
          <a:xfrm>
            <a:off x="723900" y="1653540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completed courses, previous attempts and points earned.</a:t>
            </a:r>
            <a:endParaRPr lang="en-US" sz="1125" dirty="0"/>
          </a:p>
        </p:txBody>
      </p:sp>
      <p:sp>
        <p:nvSpPr>
          <p:cNvPr id="56" name="Shape 54"/>
          <p:cNvSpPr/>
          <p:nvPr/>
        </p:nvSpPr>
        <p:spPr>
          <a:xfrm>
            <a:off x="8496300" y="1226820"/>
            <a:ext cx="3337560" cy="579120"/>
          </a:xfrm>
          <a:prstGeom prst="roundRect">
            <a:avLst>
              <a:gd name="adj" fmla="val 19737"/>
            </a:avLst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602980" y="1303020"/>
            <a:ext cx="9296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680</a:t>
            </a:r>
            <a:endParaRPr lang="en-US" sz="1800" dirty="0"/>
          </a:p>
        </p:txBody>
      </p:sp>
      <p:sp>
        <p:nvSpPr>
          <p:cNvPr id="58" name="Text 56"/>
          <p:cNvSpPr txBox="1"/>
          <p:nvPr/>
        </p:nvSpPr>
        <p:spPr>
          <a:xfrm>
            <a:off x="8602980" y="1577340"/>
            <a:ext cx="929640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9532620" y="1341120"/>
            <a:ext cx="0" cy="358140"/>
          </a:xfrm>
          <a:prstGeom prst="line">
            <a:avLst/>
          </a:prstGeom>
          <a:noFill/>
          <a:ln w="8890">
            <a:solidFill>
              <a:srgbClr val="D6DDE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639300" y="1303020"/>
            <a:ext cx="9296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5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3</a:t>
            </a:r>
            <a:endParaRPr lang="en-US" sz="1800" dirty="0"/>
          </a:p>
        </p:txBody>
      </p:sp>
      <p:sp>
        <p:nvSpPr>
          <p:cNvPr id="61" name="Text 59"/>
          <p:cNvSpPr txBox="1"/>
          <p:nvPr/>
        </p:nvSpPr>
        <p:spPr>
          <a:xfrm>
            <a:off x="9639300" y="1577340"/>
            <a:ext cx="929640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LEVEL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0568940" y="1341120"/>
            <a:ext cx="0" cy="358140"/>
          </a:xfrm>
          <a:prstGeom prst="line">
            <a:avLst/>
          </a:prstGeom>
          <a:noFill/>
          <a:ln w="8890">
            <a:solidFill>
              <a:srgbClr val="D6DDE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0675620" y="1303020"/>
            <a:ext cx="9296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64" name="Text 62"/>
          <p:cNvSpPr txBox="1"/>
          <p:nvPr/>
        </p:nvSpPr>
        <p:spPr>
          <a:xfrm>
            <a:off x="10675620" y="1577340"/>
            <a:ext cx="929640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RECORDS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716280" y="1950720"/>
            <a:ext cx="1607820" cy="967740"/>
          </a:xfrm>
          <a:prstGeom prst="roundRect">
            <a:avLst>
              <a:gd name="adj" fmla="val 17323"/>
            </a:avLst>
          </a:prstGeom>
          <a:solidFill>
            <a:srgbClr val="EAE3FB"/>
          </a:solidFill>
          <a:ln w="12700">
            <a:solidFill>
              <a:srgbClr val="EAE3FB">
                <a:alpha val="0"/>
              </a:srgbClr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845820" y="2095500"/>
            <a:ext cx="12801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</a:t>
            </a:r>
            <a:endParaRPr lang="en-US" sz="1800" dirty="0"/>
          </a:p>
        </p:txBody>
      </p:sp>
      <p:sp>
        <p:nvSpPr>
          <p:cNvPr id="67" name="Text 65"/>
          <p:cNvSpPr txBox="1"/>
          <p:nvPr/>
        </p:nvSpPr>
        <p:spPr>
          <a:xfrm>
            <a:off x="845820" y="2575560"/>
            <a:ext cx="129540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learning records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available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400300" y="1950720"/>
            <a:ext cx="9395460" cy="967740"/>
          </a:xfrm>
          <a:prstGeom prst="roundRect">
            <a:avLst>
              <a:gd name="adj" fmla="val 1732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2583180" y="2095500"/>
            <a:ext cx="4648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learning record</a:t>
            </a:r>
            <a:endParaRPr lang="en-US" sz="1725" dirty="0"/>
          </a:p>
        </p:txBody>
      </p:sp>
      <p:sp>
        <p:nvSpPr>
          <p:cNvPr id="70" name="Text 68"/>
          <p:cNvSpPr txBox="1"/>
          <p:nvPr/>
        </p:nvSpPr>
        <p:spPr>
          <a:xfrm>
            <a:off x="2583180" y="2377440"/>
            <a:ext cx="5029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outcomes and points from every attempt.</a:t>
            </a:r>
            <a:endParaRPr lang="en-US" sz="975" dirty="0"/>
          </a:p>
        </p:txBody>
      </p:sp>
      <p:sp>
        <p:nvSpPr>
          <p:cNvPr id="71" name="Shape 69"/>
          <p:cNvSpPr/>
          <p:nvPr/>
        </p:nvSpPr>
        <p:spPr>
          <a:xfrm>
            <a:off x="8107680" y="2156460"/>
            <a:ext cx="1219200" cy="342900"/>
          </a:xfrm>
          <a:prstGeom prst="roundRect">
            <a:avLst>
              <a:gd name="adj" fmla="val 24444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183880" y="2164080"/>
            <a:ext cx="10668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8107680" y="2156460"/>
            <a:ext cx="1219200" cy="34290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8168640" y="2164080"/>
            <a:ext cx="10972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</a:t>
            </a:r>
            <a:endParaRPr lang="en-US" sz="975" dirty="0"/>
          </a:p>
        </p:txBody>
      </p:sp>
      <p:sp>
        <p:nvSpPr>
          <p:cNvPr id="75" name="Shape 73"/>
          <p:cNvSpPr/>
          <p:nvPr/>
        </p:nvSpPr>
        <p:spPr>
          <a:xfrm>
            <a:off x="9395460" y="2156460"/>
            <a:ext cx="1219200" cy="342900"/>
          </a:xfrm>
          <a:prstGeom prst="roundRect">
            <a:avLst>
              <a:gd name="adj" fmla="val 24444"/>
            </a:avLst>
          </a:prstGeom>
          <a:solidFill>
            <a:srgbClr val="202127"/>
          </a:solidFill>
          <a:ln w="12700">
            <a:solidFill>
              <a:srgbClr val="202127">
                <a:alpha val="0"/>
              </a:srgbClr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9471660" y="2164080"/>
            <a:ext cx="10668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10683240" y="2156460"/>
            <a:ext cx="937260" cy="34290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0728960" y="2164080"/>
            <a:ext cx="8382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⌕  Filter</a:t>
            </a:r>
            <a:endParaRPr lang="en-US" sz="975" dirty="0"/>
          </a:p>
        </p:txBody>
      </p:sp>
      <p:sp>
        <p:nvSpPr>
          <p:cNvPr id="79" name="Shape 77"/>
          <p:cNvSpPr/>
          <p:nvPr/>
        </p:nvSpPr>
        <p:spPr>
          <a:xfrm>
            <a:off x="716280" y="3032760"/>
            <a:ext cx="11079480" cy="3215640"/>
          </a:xfrm>
          <a:prstGeom prst="roundRect">
            <a:avLst>
              <a:gd name="adj" fmla="val 9005"/>
            </a:avLst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645920" y="3291840"/>
            <a:ext cx="339090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8A9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</a:t>
            </a:r>
            <a:endParaRPr lang="en-US" sz="825" dirty="0"/>
          </a:p>
        </p:txBody>
      </p:sp>
      <p:sp>
        <p:nvSpPr>
          <p:cNvPr id="81" name="Text 79"/>
          <p:cNvSpPr txBox="1"/>
          <p:nvPr/>
        </p:nvSpPr>
        <p:spPr>
          <a:xfrm>
            <a:off x="5417820" y="3291840"/>
            <a:ext cx="90678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8A9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ASSIGNED</a:t>
            </a:r>
            <a:endParaRPr lang="en-US" sz="825" dirty="0"/>
          </a:p>
        </p:txBody>
      </p:sp>
      <p:sp>
        <p:nvSpPr>
          <p:cNvPr id="82" name="Text 80"/>
          <p:cNvSpPr txBox="1"/>
          <p:nvPr/>
        </p:nvSpPr>
        <p:spPr>
          <a:xfrm>
            <a:off x="6454140" y="3291840"/>
            <a:ext cx="90678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8A9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DUE DATE</a:t>
            </a:r>
            <a:endParaRPr lang="en-US" sz="825" dirty="0"/>
          </a:p>
        </p:txBody>
      </p:sp>
      <p:sp>
        <p:nvSpPr>
          <p:cNvPr id="83" name="Text 81"/>
          <p:cNvSpPr txBox="1"/>
          <p:nvPr/>
        </p:nvSpPr>
        <p:spPr>
          <a:xfrm>
            <a:off x="7551420" y="3291840"/>
            <a:ext cx="127254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8A9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825" dirty="0"/>
          </a:p>
        </p:txBody>
      </p:sp>
      <p:sp>
        <p:nvSpPr>
          <p:cNvPr id="84" name="Text 82"/>
          <p:cNvSpPr txBox="1"/>
          <p:nvPr/>
        </p:nvSpPr>
        <p:spPr>
          <a:xfrm>
            <a:off x="10546080" y="3291840"/>
            <a:ext cx="86868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8A9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POINTS</a:t>
            </a:r>
            <a:endParaRPr lang="en-US" sz="825" dirty="0"/>
          </a:p>
        </p:txBody>
      </p:sp>
      <p:sp>
        <p:nvSpPr>
          <p:cNvPr id="85" name="Shape 83"/>
          <p:cNvSpPr/>
          <p:nvPr/>
        </p:nvSpPr>
        <p:spPr>
          <a:xfrm>
            <a:off x="876300" y="3558540"/>
            <a:ext cx="10759440" cy="662940"/>
          </a:xfrm>
          <a:prstGeom prst="roundRect">
            <a:avLst>
              <a:gd name="adj" fmla="val 1954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82980" y="3665220"/>
            <a:ext cx="472440" cy="449580"/>
          </a:xfrm>
          <a:prstGeom prst="roundRect">
            <a:avLst>
              <a:gd name="adj" fmla="val 16949"/>
            </a:avLst>
          </a:prstGeom>
          <a:solidFill>
            <a:srgbClr val="FFE0E5"/>
          </a:solidFill>
          <a:ln w="12700">
            <a:solidFill>
              <a:srgbClr val="FFE0E5">
                <a:alpha val="0"/>
              </a:srgbClr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982980" y="3703320"/>
            <a:ext cx="47244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DA2B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75" dirty="0"/>
          </a:p>
        </p:txBody>
      </p:sp>
      <p:sp>
        <p:nvSpPr>
          <p:cNvPr id="88" name="Text 86"/>
          <p:cNvSpPr txBox="1"/>
          <p:nvPr/>
        </p:nvSpPr>
        <p:spPr>
          <a:xfrm>
            <a:off x="1592580" y="3672840"/>
            <a:ext cx="361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Awareness Training – VOIS Shield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1592580" y="3931920"/>
            <a:ext cx="335280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A9A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VS-T70 · Security awareness</a:t>
            </a:r>
            <a:endParaRPr lang="en-US" sz="825" dirty="0"/>
          </a:p>
        </p:txBody>
      </p:sp>
      <p:sp>
        <p:nvSpPr>
          <p:cNvPr id="90" name="Text 88"/>
          <p:cNvSpPr txBox="1"/>
          <p:nvPr/>
        </p:nvSpPr>
        <p:spPr>
          <a:xfrm>
            <a:off x="5425440" y="3771900"/>
            <a:ext cx="9067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Jan 2026</a:t>
            </a:r>
            <a:endParaRPr lang="en-US" sz="975" dirty="0"/>
          </a:p>
        </p:txBody>
      </p:sp>
      <p:sp>
        <p:nvSpPr>
          <p:cNvPr id="91" name="Text 89"/>
          <p:cNvSpPr txBox="1"/>
          <p:nvPr/>
        </p:nvSpPr>
        <p:spPr>
          <a:xfrm>
            <a:off x="6469380" y="3771900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Jan 2026</a:t>
            </a:r>
            <a:endParaRPr lang="en-US" sz="975" dirty="0"/>
          </a:p>
        </p:txBody>
      </p:sp>
      <p:sp>
        <p:nvSpPr>
          <p:cNvPr id="92" name="Shape 90"/>
          <p:cNvSpPr/>
          <p:nvPr/>
        </p:nvSpPr>
        <p:spPr>
          <a:xfrm>
            <a:off x="7536180" y="3741420"/>
            <a:ext cx="1249680" cy="297180"/>
          </a:xfrm>
          <a:prstGeom prst="roundRect">
            <a:avLst>
              <a:gd name="adj" fmla="val 23077"/>
            </a:avLst>
          </a:prstGeom>
          <a:solidFill>
            <a:srgbClr val="FFE5EA"/>
          </a:solidFill>
          <a:ln w="12700">
            <a:solidFill>
              <a:srgbClr val="FFE5EA">
                <a:alpha val="0"/>
              </a:srgbClr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7589520" y="3749040"/>
            <a:ext cx="114300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DA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Failed attempt</a:t>
            </a:r>
            <a:endParaRPr lang="en-US" sz="975" dirty="0"/>
          </a:p>
        </p:txBody>
      </p:sp>
      <p:sp>
        <p:nvSpPr>
          <p:cNvPr id="94" name="Shape 92"/>
          <p:cNvSpPr/>
          <p:nvPr/>
        </p:nvSpPr>
        <p:spPr>
          <a:xfrm>
            <a:off x="10515600" y="3741420"/>
            <a:ext cx="838200" cy="297180"/>
          </a:xfrm>
          <a:prstGeom prst="roundRect">
            <a:avLst>
              <a:gd name="adj" fmla="val 23077"/>
            </a:avLst>
          </a:prstGeom>
          <a:solidFill>
            <a:srgbClr val="202127"/>
          </a:solidFill>
          <a:ln w="12700">
            <a:solidFill>
              <a:srgbClr val="202127">
                <a:alpha val="0"/>
              </a:srgbClr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10568940" y="3749040"/>
            <a:ext cx="73152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+25</a:t>
            </a:r>
            <a:endParaRPr lang="en-US" sz="975" dirty="0"/>
          </a:p>
        </p:txBody>
      </p:sp>
      <p:sp>
        <p:nvSpPr>
          <p:cNvPr id="96" name="Shape 94"/>
          <p:cNvSpPr/>
          <p:nvPr/>
        </p:nvSpPr>
        <p:spPr>
          <a:xfrm>
            <a:off x="876300" y="4312920"/>
            <a:ext cx="10759440" cy="662940"/>
          </a:xfrm>
          <a:prstGeom prst="roundRect">
            <a:avLst>
              <a:gd name="adj" fmla="val 1954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82980" y="4419600"/>
            <a:ext cx="472440" cy="449580"/>
          </a:xfrm>
          <a:prstGeom prst="roundRect">
            <a:avLst>
              <a:gd name="adj" fmla="val 16949"/>
            </a:avLst>
          </a:prstGeom>
          <a:solidFill>
            <a:srgbClr val="EAE5FA"/>
          </a:solidFill>
          <a:ln w="12700">
            <a:solidFill>
              <a:srgbClr val="EAE5FA">
                <a:alpha val="0"/>
              </a:srgbClr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982980" y="4457700"/>
            <a:ext cx="47244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6455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75" dirty="0"/>
          </a:p>
        </p:txBody>
      </p:sp>
      <p:sp>
        <p:nvSpPr>
          <p:cNvPr id="99" name="Text 97"/>
          <p:cNvSpPr txBox="1"/>
          <p:nvPr/>
        </p:nvSpPr>
        <p:spPr>
          <a:xfrm>
            <a:off x="1592580" y="4427220"/>
            <a:ext cx="36195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Spams Alert and Awareness</a:t>
            </a:r>
            <a:endParaRPr lang="en-US" sz="1125" dirty="0"/>
          </a:p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for Employee Defender</a:t>
            </a:r>
            <a:endParaRPr lang="en-US" sz="1125" dirty="0"/>
          </a:p>
        </p:txBody>
      </p:sp>
      <p:sp>
        <p:nvSpPr>
          <p:cNvPr id="100" name="Text 98"/>
          <p:cNvSpPr txBox="1"/>
          <p:nvPr/>
        </p:nvSpPr>
        <p:spPr>
          <a:xfrm>
            <a:off x="5425440" y="4526280"/>
            <a:ext cx="9067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Jan 2026</a:t>
            </a:r>
            <a:endParaRPr lang="en-US" sz="975" dirty="0"/>
          </a:p>
        </p:txBody>
      </p:sp>
      <p:sp>
        <p:nvSpPr>
          <p:cNvPr id="101" name="Text 99"/>
          <p:cNvSpPr txBox="1"/>
          <p:nvPr/>
        </p:nvSpPr>
        <p:spPr>
          <a:xfrm>
            <a:off x="6469380" y="4526280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Jan 2026</a:t>
            </a:r>
            <a:endParaRPr lang="en-US" sz="975" dirty="0"/>
          </a:p>
        </p:txBody>
      </p:sp>
      <p:sp>
        <p:nvSpPr>
          <p:cNvPr id="102" name="Shape 100"/>
          <p:cNvSpPr/>
          <p:nvPr/>
        </p:nvSpPr>
        <p:spPr>
          <a:xfrm>
            <a:off x="7536180" y="4495800"/>
            <a:ext cx="1249680" cy="297180"/>
          </a:xfrm>
          <a:prstGeom prst="roundRect">
            <a:avLst>
              <a:gd name="adj" fmla="val 23077"/>
            </a:avLst>
          </a:prstGeom>
          <a:solidFill>
            <a:srgbClr val="E4F4DF"/>
          </a:solidFill>
          <a:ln w="12700">
            <a:solidFill>
              <a:srgbClr val="E4F4DF">
                <a:alpha val="0"/>
              </a:srgbClr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7589520" y="4503420"/>
            <a:ext cx="114300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2784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Completed</a:t>
            </a:r>
            <a:endParaRPr lang="en-US" sz="975" dirty="0"/>
          </a:p>
        </p:txBody>
      </p:sp>
      <p:sp>
        <p:nvSpPr>
          <p:cNvPr id="104" name="Shape 102"/>
          <p:cNvSpPr/>
          <p:nvPr/>
        </p:nvSpPr>
        <p:spPr>
          <a:xfrm>
            <a:off x="10515600" y="4495800"/>
            <a:ext cx="838200" cy="297180"/>
          </a:xfrm>
          <a:prstGeom prst="roundRect">
            <a:avLst>
              <a:gd name="adj" fmla="val 23077"/>
            </a:avLst>
          </a:prstGeom>
          <a:solidFill>
            <a:srgbClr val="202127"/>
          </a:solidFill>
          <a:ln w="12700">
            <a:solidFill>
              <a:srgbClr val="202127">
                <a:alpha val="0"/>
              </a:srgbClr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10568940" y="4503420"/>
            <a:ext cx="73152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+50</a:t>
            </a:r>
            <a:endParaRPr lang="en-US" sz="975" dirty="0"/>
          </a:p>
        </p:txBody>
      </p:sp>
      <p:sp>
        <p:nvSpPr>
          <p:cNvPr id="106" name="Shape 104"/>
          <p:cNvSpPr/>
          <p:nvPr/>
        </p:nvSpPr>
        <p:spPr>
          <a:xfrm>
            <a:off x="876300" y="5067300"/>
            <a:ext cx="10759440" cy="662940"/>
          </a:xfrm>
          <a:prstGeom prst="roundRect">
            <a:avLst>
              <a:gd name="adj" fmla="val 1954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82980" y="5173980"/>
            <a:ext cx="472440" cy="449580"/>
          </a:xfrm>
          <a:prstGeom prst="roundRect">
            <a:avLst>
              <a:gd name="adj" fmla="val 16949"/>
            </a:avLst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982980" y="5212080"/>
            <a:ext cx="47244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75" dirty="0"/>
          </a:p>
        </p:txBody>
      </p:sp>
      <p:sp>
        <p:nvSpPr>
          <p:cNvPr id="109" name="Text 107"/>
          <p:cNvSpPr txBox="1"/>
          <p:nvPr/>
        </p:nvSpPr>
        <p:spPr>
          <a:xfrm>
            <a:off x="1592580" y="5181600"/>
            <a:ext cx="36195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Spams Alert and Awareness</a:t>
            </a:r>
            <a:endParaRPr lang="en-US" sz="1125" dirty="0"/>
          </a:p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for Employee Defender</a:t>
            </a:r>
            <a:endParaRPr lang="en-US" sz="1125" dirty="0"/>
          </a:p>
        </p:txBody>
      </p:sp>
      <p:sp>
        <p:nvSpPr>
          <p:cNvPr id="110" name="Text 108"/>
          <p:cNvSpPr txBox="1"/>
          <p:nvPr/>
        </p:nvSpPr>
        <p:spPr>
          <a:xfrm>
            <a:off x="5425440" y="5280660"/>
            <a:ext cx="9067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Jan 2026</a:t>
            </a:r>
            <a:endParaRPr lang="en-US" sz="975" dirty="0"/>
          </a:p>
        </p:txBody>
      </p:sp>
      <p:sp>
        <p:nvSpPr>
          <p:cNvPr id="111" name="Text 109"/>
          <p:cNvSpPr txBox="1"/>
          <p:nvPr/>
        </p:nvSpPr>
        <p:spPr>
          <a:xfrm>
            <a:off x="6469380" y="5280660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Jan 2026</a:t>
            </a:r>
            <a:endParaRPr lang="en-US" sz="975" dirty="0"/>
          </a:p>
        </p:txBody>
      </p:sp>
      <p:sp>
        <p:nvSpPr>
          <p:cNvPr id="112" name="Shape 110"/>
          <p:cNvSpPr/>
          <p:nvPr/>
        </p:nvSpPr>
        <p:spPr>
          <a:xfrm>
            <a:off x="7536180" y="5250180"/>
            <a:ext cx="1249680" cy="297180"/>
          </a:xfrm>
          <a:prstGeom prst="roundRect">
            <a:avLst>
              <a:gd name="adj" fmla="val 23077"/>
            </a:avLst>
          </a:prstGeom>
          <a:solidFill>
            <a:srgbClr val="EBEEF2"/>
          </a:solidFill>
          <a:ln w="12700">
            <a:solidFill>
              <a:srgbClr val="EBEEF2">
                <a:alpha val="0"/>
              </a:srgbClr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7589520" y="5257800"/>
            <a:ext cx="114300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779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attempt</a:t>
            </a:r>
            <a:endParaRPr lang="en-US" sz="975" dirty="0"/>
          </a:p>
        </p:txBody>
      </p:sp>
      <p:sp>
        <p:nvSpPr>
          <p:cNvPr id="114" name="Shape 112"/>
          <p:cNvSpPr/>
          <p:nvPr/>
        </p:nvSpPr>
        <p:spPr>
          <a:xfrm>
            <a:off x="10515600" y="5250180"/>
            <a:ext cx="838200" cy="297180"/>
          </a:xfrm>
          <a:prstGeom prst="roundRect">
            <a:avLst>
              <a:gd name="adj" fmla="val 23077"/>
            </a:avLst>
          </a:prstGeom>
          <a:solidFill>
            <a:srgbClr val="202127"/>
          </a:solidFill>
          <a:ln w="12700">
            <a:solidFill>
              <a:srgbClr val="202127">
                <a:alpha val="0"/>
              </a:srgbClr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10568940" y="5257800"/>
            <a:ext cx="73152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</a:t>
            </a:r>
            <a:endParaRPr lang="en-US" sz="975" dirty="0"/>
          </a:p>
        </p:txBody>
      </p:sp>
      <p:sp>
        <p:nvSpPr>
          <p:cNvPr id="116" name="Shape 114"/>
          <p:cNvSpPr/>
          <p:nvPr/>
        </p:nvSpPr>
        <p:spPr>
          <a:xfrm>
            <a:off x="883920" y="5897880"/>
            <a:ext cx="10744200" cy="243840"/>
          </a:xfrm>
          <a:prstGeom prst="roundRect">
            <a:avLst>
              <a:gd name="adj" fmla="val 25000"/>
            </a:avLst>
          </a:prstGeom>
          <a:solidFill>
            <a:srgbClr val="EAE4FA"/>
          </a:solidFill>
          <a:ln w="12700">
            <a:solidFill>
              <a:srgbClr val="EAE4FA">
                <a:alpha val="0"/>
              </a:srgbClr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1066800" y="5905500"/>
            <a:ext cx="112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555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 summary</a:t>
            </a:r>
            <a:endParaRPr lang="en-US" sz="900" dirty="0"/>
          </a:p>
        </p:txBody>
      </p:sp>
      <p:sp>
        <p:nvSpPr>
          <p:cNvPr id="118" name="Text 116"/>
          <p:cNvSpPr txBox="1"/>
          <p:nvPr/>
        </p:nvSpPr>
        <p:spPr>
          <a:xfrm>
            <a:off x="2186940" y="5905500"/>
            <a:ext cx="678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completed   ·   1 failed attempt   ·   1 no attempt</a:t>
            </a:r>
            <a:endParaRPr lang="en-US" sz="900" dirty="0"/>
          </a:p>
        </p:txBody>
      </p:sp>
      <p:sp>
        <p:nvSpPr>
          <p:cNvPr id="119" name="Text 117"/>
          <p:cNvSpPr txBox="1"/>
          <p:nvPr/>
        </p:nvSpPr>
        <p:spPr>
          <a:xfrm>
            <a:off x="9144000" y="59055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555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points earned: 75</a:t>
            </a:r>
            <a:endParaRPr lang="en-US" sz="900" dirty="0"/>
          </a:p>
        </p:txBody>
      </p:sp>
      <p:sp>
        <p:nvSpPr>
          <p:cNvPr id="120" name="Text 118"/>
          <p:cNvSpPr txBox="1"/>
          <p:nvPr/>
        </p:nvSpPr>
        <p:spPr>
          <a:xfrm>
            <a:off x="868680" y="6385560"/>
            <a:ext cx="13868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E6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REMINDER</a:t>
            </a:r>
            <a:endParaRPr lang="en-US" sz="750" dirty="0"/>
          </a:p>
        </p:txBody>
      </p:sp>
      <p:sp>
        <p:nvSpPr>
          <p:cNvPr id="121" name="Text 119"/>
          <p:cNvSpPr txBox="1"/>
          <p:nvPr/>
        </p:nvSpPr>
        <p:spPr>
          <a:xfrm>
            <a:off x="2263140" y="6339840"/>
            <a:ext cx="533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completed training strengthens your human firewall.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10160">
            <a:solidFill>
              <a:srgbClr val="E9ED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7640" y="701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7640" y="777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3840" y="701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3840" y="777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074420"/>
            <a:ext cx="91440" cy="1295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3360" y="1112520"/>
            <a:ext cx="45720" cy="0"/>
          </a:xfrm>
          <a:prstGeom prst="line">
            <a:avLst/>
          </a:prstGeom>
          <a:noFill/>
          <a:ln w="11430">
            <a:solidFill>
              <a:srgbClr val="91A4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7640" y="1470660"/>
            <a:ext cx="121920" cy="9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" y="1562100"/>
            <a:ext cx="-15240" cy="30480"/>
          </a:xfrm>
          <a:prstGeom prst="line">
            <a:avLst/>
          </a:prstGeom>
          <a:noFill/>
          <a:ln w="12700">
            <a:solidFill>
              <a:srgbClr val="91A4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7640" y="1844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7640" y="1920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3840" y="1844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3840" y="1920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217420"/>
            <a:ext cx="91440" cy="1295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3360" y="2255520"/>
            <a:ext cx="45720" cy="0"/>
          </a:xfrm>
          <a:prstGeom prst="line">
            <a:avLst/>
          </a:prstGeom>
          <a:noFill/>
          <a:ln w="11430">
            <a:solidFill>
              <a:srgbClr val="91A4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7640" y="2613660"/>
            <a:ext cx="121920" cy="9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" y="2705100"/>
            <a:ext cx="-15240" cy="30480"/>
          </a:xfrm>
          <a:prstGeom prst="line">
            <a:avLst/>
          </a:prstGeom>
          <a:noFill/>
          <a:ln w="12700">
            <a:solidFill>
              <a:srgbClr val="91A4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7640" y="2987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7640" y="3063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3840" y="2987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3840" y="3063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3360420"/>
            <a:ext cx="91440" cy="1295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3360" y="3398520"/>
            <a:ext cx="45720" cy="0"/>
          </a:xfrm>
          <a:prstGeom prst="line">
            <a:avLst/>
          </a:prstGeom>
          <a:noFill/>
          <a:ln w="11430">
            <a:solidFill>
              <a:srgbClr val="91A4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7640" y="3756660"/>
            <a:ext cx="121920" cy="9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0500" y="3848100"/>
            <a:ext cx="-15240" cy="30480"/>
          </a:xfrm>
          <a:prstGeom prst="line">
            <a:avLst/>
          </a:prstGeom>
          <a:noFill/>
          <a:ln w="12700">
            <a:solidFill>
              <a:srgbClr val="91A4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7640" y="4130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7640" y="4206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3840" y="4130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3840" y="4206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4503420"/>
            <a:ext cx="91440" cy="1295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3360" y="4541520"/>
            <a:ext cx="45720" cy="0"/>
          </a:xfrm>
          <a:prstGeom prst="line">
            <a:avLst/>
          </a:prstGeom>
          <a:noFill/>
          <a:ln w="11430">
            <a:solidFill>
              <a:srgbClr val="91A4B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7640" y="4899660"/>
            <a:ext cx="121920" cy="9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0500" y="4991100"/>
            <a:ext cx="-15240" cy="30480"/>
          </a:xfrm>
          <a:prstGeom prst="line">
            <a:avLst/>
          </a:prstGeom>
          <a:noFill/>
          <a:ln w="12700">
            <a:solidFill>
              <a:srgbClr val="91A4B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960" y="5311140"/>
            <a:ext cx="335280" cy="327660"/>
          </a:xfrm>
          <a:prstGeom prst="roundRect">
            <a:avLst>
              <a:gd name="adj" fmla="val 20930"/>
            </a:avLst>
          </a:prstGeom>
          <a:solidFill>
            <a:srgbClr val="FDE9EB"/>
          </a:solidFill>
          <a:ln w="12700">
            <a:solidFill>
              <a:srgbClr val="FDE9EB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60020" y="5372100"/>
            <a:ext cx="1371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E6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◇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67640" y="5463540"/>
            <a:ext cx="121920" cy="0"/>
          </a:xfrm>
          <a:prstGeom prst="line">
            <a:avLst/>
          </a:prstGeom>
          <a:noFill/>
          <a:ln w="13970">
            <a:solidFill>
              <a:srgbClr val="E6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4300" y="6393180"/>
            <a:ext cx="251460" cy="259080"/>
          </a:xfrm>
          <a:prstGeom prst="roundRect">
            <a:avLst>
              <a:gd name="adj" fmla="val 15152"/>
            </a:avLst>
          </a:prstGeom>
          <a:solidFill>
            <a:srgbClr val="C80065"/>
          </a:solidFill>
          <a:ln w="12700">
            <a:solidFill>
              <a:srgbClr val="C80065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14300" y="6400800"/>
            <a:ext cx="2514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464820" y="0"/>
            <a:ext cx="11727180" cy="381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08660" y="129540"/>
            <a:ext cx="4724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VOIS</a:t>
            </a:r>
            <a:endParaRPr lang="en-US" sz="1725" dirty="0"/>
          </a:p>
        </p:txBody>
      </p:sp>
      <p:sp>
        <p:nvSpPr>
          <p:cNvPr id="43" name="Text 41"/>
          <p:cNvSpPr txBox="1"/>
          <p:nvPr/>
        </p:nvSpPr>
        <p:spPr>
          <a:xfrm>
            <a:off x="1150620" y="129540"/>
            <a:ext cx="6248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E6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Shield</a:t>
            </a:r>
            <a:endParaRPr lang="en-US" sz="1725" dirty="0"/>
          </a:p>
        </p:txBody>
      </p:sp>
      <p:sp>
        <p:nvSpPr>
          <p:cNvPr id="44" name="Text 42"/>
          <p:cNvSpPr txBox="1"/>
          <p:nvPr/>
        </p:nvSpPr>
        <p:spPr>
          <a:xfrm>
            <a:off x="1744980" y="129540"/>
            <a:ext cx="12192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25" dirty="0"/>
          </a:p>
        </p:txBody>
      </p:sp>
      <p:sp>
        <p:nvSpPr>
          <p:cNvPr id="45" name="Text 43"/>
          <p:cNvSpPr txBox="1"/>
          <p:nvPr/>
        </p:nvSpPr>
        <p:spPr>
          <a:xfrm>
            <a:off x="9144000" y="129540"/>
            <a:ext cx="2087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Contact:  abhay.hs1@vodafone.com</a:t>
            </a:r>
            <a:endParaRPr lang="en-US" sz="975" dirty="0"/>
          </a:p>
        </p:txBody>
      </p:sp>
      <p:sp>
        <p:nvSpPr>
          <p:cNvPr id="46" name="Shape 44"/>
          <p:cNvSpPr/>
          <p:nvPr/>
        </p:nvSpPr>
        <p:spPr>
          <a:xfrm>
            <a:off x="11353800" y="83820"/>
            <a:ext cx="495300" cy="251460"/>
          </a:xfrm>
          <a:prstGeom prst="roundRect">
            <a:avLst>
              <a:gd name="adj" fmla="val 27273"/>
            </a:avLst>
          </a:prstGeom>
          <a:solidFill>
            <a:srgbClr val="F1F3F7"/>
          </a:solidFill>
          <a:ln w="12700">
            <a:solidFill>
              <a:srgbClr val="F1F3F7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1445240" y="114300"/>
            <a:ext cx="3124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◦   ☾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09600" y="579120"/>
            <a:ext cx="11391900" cy="373380"/>
          </a:xfrm>
          <a:prstGeom prst="roundRect">
            <a:avLst>
              <a:gd name="adj" fmla="val 16327"/>
            </a:avLst>
          </a:prstGeom>
          <a:solidFill>
            <a:srgbClr val="202127"/>
          </a:solidFill>
          <a:ln w="12700">
            <a:solidFill>
              <a:srgbClr val="202127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9600" y="632460"/>
            <a:ext cx="30480" cy="25908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23900" y="624840"/>
            <a:ext cx="3314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Training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8458200" y="655320"/>
            <a:ext cx="3345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D3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assigned learning and stay resilient.</a:t>
            </a:r>
            <a:endParaRPr lang="en-US" sz="975" dirty="0"/>
          </a:p>
        </p:txBody>
      </p:sp>
      <p:sp>
        <p:nvSpPr>
          <p:cNvPr id="52" name="Text 50"/>
          <p:cNvSpPr txBox="1"/>
          <p:nvPr/>
        </p:nvSpPr>
        <p:spPr>
          <a:xfrm>
            <a:off x="11201400" y="6484620"/>
            <a:ext cx="6781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06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723900" y="1127760"/>
            <a:ext cx="53340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30" kern="0" dirty="0">
                <a:solidFill>
                  <a:srgbClr val="899D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VS-T70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723900" y="1295400"/>
            <a:ext cx="693420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spam awareness</a:t>
            </a:r>
            <a:endParaRPr lang="en-US" sz="2700" dirty="0"/>
          </a:p>
        </p:txBody>
      </p:sp>
      <p:sp>
        <p:nvSpPr>
          <p:cNvPr id="55" name="Text 53"/>
          <p:cNvSpPr txBox="1"/>
          <p:nvPr/>
        </p:nvSpPr>
        <p:spPr>
          <a:xfrm>
            <a:off x="723900" y="1653540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how to identify suspicious emails and use the approved reporting process.</a:t>
            </a:r>
            <a:endParaRPr lang="en-US" sz="1125" dirty="0"/>
          </a:p>
        </p:txBody>
      </p:sp>
      <p:sp>
        <p:nvSpPr>
          <p:cNvPr id="56" name="Shape 54"/>
          <p:cNvSpPr/>
          <p:nvPr/>
        </p:nvSpPr>
        <p:spPr>
          <a:xfrm>
            <a:off x="716280" y="1912620"/>
            <a:ext cx="3634740" cy="441960"/>
          </a:xfrm>
          <a:prstGeom prst="roundRect">
            <a:avLst>
              <a:gd name="adj" fmla="val 17241"/>
            </a:avLst>
          </a:prstGeom>
          <a:solidFill>
            <a:srgbClr val="202127"/>
          </a:solidFill>
          <a:ln w="12700">
            <a:solidFill>
              <a:srgbClr val="202127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8680" y="2011680"/>
            <a:ext cx="220980" cy="220980"/>
          </a:xfrm>
          <a:prstGeom prst="roundRect">
            <a:avLst>
              <a:gd name="adj" fmla="val 20690"/>
            </a:avLst>
          </a:prstGeom>
          <a:solidFill>
            <a:srgbClr val="7CDA65"/>
          </a:solidFill>
          <a:ln w="12700">
            <a:solidFill>
              <a:srgbClr val="7CDA65">
                <a:alpha val="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68680" y="2011680"/>
            <a:ext cx="22098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75" dirty="0"/>
          </a:p>
        </p:txBody>
      </p:sp>
      <p:sp>
        <p:nvSpPr>
          <p:cNvPr id="59" name="Text 57"/>
          <p:cNvSpPr txBox="1"/>
          <p:nvPr/>
        </p:nvSpPr>
        <p:spPr>
          <a:xfrm>
            <a:off x="1188720" y="2004060"/>
            <a:ext cx="1783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TRAINED</a:t>
            </a:r>
            <a:endParaRPr lang="en-US" sz="1125" dirty="0"/>
          </a:p>
        </p:txBody>
      </p:sp>
      <p:sp>
        <p:nvSpPr>
          <p:cNvPr id="60" name="Text 58"/>
          <p:cNvSpPr txBox="1"/>
          <p:nvPr/>
        </p:nvSpPr>
        <p:spPr>
          <a:xfrm>
            <a:off x="3116580" y="2042160"/>
            <a:ext cx="10744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CDD2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step</a:t>
            </a:r>
            <a:endParaRPr lang="en-US" sz="825" dirty="0"/>
          </a:p>
        </p:txBody>
      </p:sp>
      <p:sp>
        <p:nvSpPr>
          <p:cNvPr id="61" name="Shape 59"/>
          <p:cNvSpPr/>
          <p:nvPr/>
        </p:nvSpPr>
        <p:spPr>
          <a:xfrm>
            <a:off x="4457700" y="1912620"/>
            <a:ext cx="3634740" cy="44196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610100" y="2011680"/>
            <a:ext cx="220980" cy="220980"/>
          </a:xfrm>
          <a:prstGeom prst="roundRect">
            <a:avLst>
              <a:gd name="adj" fmla="val 20690"/>
            </a:avLst>
          </a:prstGeom>
          <a:solidFill>
            <a:srgbClr val="202127"/>
          </a:solidFill>
          <a:ln w="12700">
            <a:solidFill>
              <a:srgbClr val="202127">
                <a:alpha val="0"/>
              </a:srgbClr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610100" y="2011680"/>
            <a:ext cx="22098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75" dirty="0"/>
          </a:p>
        </p:txBody>
      </p:sp>
      <p:sp>
        <p:nvSpPr>
          <p:cNvPr id="64" name="Text 62"/>
          <p:cNvSpPr txBox="1"/>
          <p:nvPr/>
        </p:nvSpPr>
        <p:spPr>
          <a:xfrm>
            <a:off x="4930140" y="2004060"/>
            <a:ext cx="1783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QUIZ</a:t>
            </a:r>
            <a:endParaRPr lang="en-US" sz="1125" dirty="0"/>
          </a:p>
        </p:txBody>
      </p:sp>
      <p:sp>
        <p:nvSpPr>
          <p:cNvPr id="65" name="Text 63"/>
          <p:cNvSpPr txBox="1"/>
          <p:nvPr/>
        </p:nvSpPr>
        <p:spPr>
          <a:xfrm>
            <a:off x="6858000" y="2042160"/>
            <a:ext cx="10744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</a:t>
            </a:r>
            <a:endParaRPr lang="en-US" sz="825" dirty="0"/>
          </a:p>
        </p:txBody>
      </p:sp>
      <p:sp>
        <p:nvSpPr>
          <p:cNvPr id="66" name="Shape 64"/>
          <p:cNvSpPr/>
          <p:nvPr/>
        </p:nvSpPr>
        <p:spPr>
          <a:xfrm>
            <a:off x="8206740" y="1912620"/>
            <a:ext cx="3634740" cy="44196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359140" y="2011680"/>
            <a:ext cx="220980" cy="220980"/>
          </a:xfrm>
          <a:prstGeom prst="roundRect">
            <a:avLst>
              <a:gd name="adj" fmla="val 20690"/>
            </a:avLst>
          </a:prstGeom>
          <a:solidFill>
            <a:srgbClr val="202127"/>
          </a:solidFill>
          <a:ln w="12700">
            <a:solidFill>
              <a:srgbClr val="202127">
                <a:alpha val="0"/>
              </a:srgbClr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359140" y="2011680"/>
            <a:ext cx="22098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75" dirty="0"/>
          </a:p>
        </p:txBody>
      </p:sp>
      <p:sp>
        <p:nvSpPr>
          <p:cNvPr id="69" name="Text 67"/>
          <p:cNvSpPr txBox="1"/>
          <p:nvPr/>
        </p:nvSpPr>
        <p:spPr>
          <a:xfrm>
            <a:off x="8679180" y="2004060"/>
            <a:ext cx="1783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COMPLETION</a:t>
            </a:r>
            <a:endParaRPr lang="en-US" sz="1125" dirty="0"/>
          </a:p>
        </p:txBody>
      </p:sp>
      <p:sp>
        <p:nvSpPr>
          <p:cNvPr id="70" name="Text 68"/>
          <p:cNvSpPr txBox="1"/>
          <p:nvPr/>
        </p:nvSpPr>
        <p:spPr>
          <a:xfrm>
            <a:off x="10607040" y="2042160"/>
            <a:ext cx="10744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</a:t>
            </a:r>
            <a:endParaRPr lang="en-US" sz="825" dirty="0"/>
          </a:p>
        </p:txBody>
      </p:sp>
      <p:sp>
        <p:nvSpPr>
          <p:cNvPr id="71" name="Shape 69"/>
          <p:cNvSpPr/>
          <p:nvPr/>
        </p:nvSpPr>
        <p:spPr>
          <a:xfrm>
            <a:off x="716280" y="2499360"/>
            <a:ext cx="1607820" cy="845820"/>
          </a:xfrm>
          <a:prstGeom prst="roundRect">
            <a:avLst>
              <a:gd name="adj" fmla="val 19820"/>
            </a:avLst>
          </a:prstGeom>
          <a:solidFill>
            <a:srgbClr val="EAE3FB"/>
          </a:solidFill>
          <a:ln w="12700">
            <a:solidFill>
              <a:srgbClr val="EAE3FB">
                <a:alpha val="0"/>
              </a:srgbClr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45820" y="2621280"/>
            <a:ext cx="1295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</a:t>
            </a:r>
            <a:endParaRPr lang="en-US" sz="1725" dirty="0"/>
          </a:p>
          <a:p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Trained</a:t>
            </a:r>
            <a:endParaRPr lang="en-US" sz="1725" dirty="0"/>
          </a:p>
        </p:txBody>
      </p:sp>
      <p:sp>
        <p:nvSpPr>
          <p:cNvPr id="73" name="Text 71"/>
          <p:cNvSpPr txBox="1"/>
          <p:nvPr/>
        </p:nvSpPr>
        <p:spPr>
          <a:xfrm>
            <a:off x="845820" y="3078480"/>
            <a:ext cx="1295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01 of 01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400300" y="2499360"/>
            <a:ext cx="9395460" cy="845820"/>
          </a:xfrm>
          <a:prstGeom prst="roundRect">
            <a:avLst>
              <a:gd name="adj" fmla="val 180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2598420" y="2628900"/>
            <a:ext cx="5257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Spams Alert and Awareness Training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Employee Defender</a:t>
            </a:r>
            <a:endParaRPr lang="en-US" sz="1500" dirty="0"/>
          </a:p>
        </p:txBody>
      </p:sp>
      <p:sp>
        <p:nvSpPr>
          <p:cNvPr id="76" name="Shape 74"/>
          <p:cNvSpPr/>
          <p:nvPr/>
        </p:nvSpPr>
        <p:spPr>
          <a:xfrm>
            <a:off x="8930640" y="2720340"/>
            <a:ext cx="1249680" cy="441960"/>
          </a:xfrm>
          <a:prstGeom prst="roundRect">
            <a:avLst>
              <a:gd name="adj" fmla="val 17241"/>
            </a:avLst>
          </a:prstGeom>
          <a:solidFill>
            <a:srgbClr val="F7F9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9006840" y="2773680"/>
            <a:ext cx="109728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04:30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9006840" y="2948940"/>
            <a:ext cx="109728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DURATION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10294620" y="2720340"/>
            <a:ext cx="1249680" cy="441960"/>
          </a:xfrm>
          <a:prstGeom prst="roundRect">
            <a:avLst>
              <a:gd name="adj" fmla="val 17241"/>
            </a:avLst>
          </a:prstGeom>
          <a:solidFill>
            <a:srgbClr val="F7F9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0370820" y="2773680"/>
            <a:ext cx="109728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8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10370820" y="2948940"/>
            <a:ext cx="109728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 SCORE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716280" y="3497580"/>
            <a:ext cx="11079480" cy="2727960"/>
          </a:xfrm>
          <a:prstGeom prst="roundRect">
            <a:avLst>
              <a:gd name="adj" fmla="val 10615"/>
            </a:avLst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76300" y="3672840"/>
            <a:ext cx="7680960" cy="2377440"/>
          </a:xfrm>
          <a:prstGeom prst="roundRect">
            <a:avLst>
              <a:gd name="adj" fmla="val 11538"/>
            </a:avLst>
          </a:prstGeom>
          <a:solidFill>
            <a:srgbClr val="202127"/>
          </a:solidFill>
          <a:ln w="12700">
            <a:solidFill>
              <a:srgbClr val="202127">
                <a:alpha val="0"/>
              </a:srgbClr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1089660" y="385572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VOIS Shield.</a:t>
            </a:r>
            <a:endParaRPr lang="en-US" sz="1650" dirty="0"/>
          </a:p>
        </p:txBody>
      </p:sp>
      <p:sp>
        <p:nvSpPr>
          <p:cNvPr id="85" name="Text 83"/>
          <p:cNvSpPr txBox="1"/>
          <p:nvPr/>
        </p:nvSpPr>
        <p:spPr>
          <a:xfrm>
            <a:off x="1089660" y="4130040"/>
            <a:ext cx="2971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C9CB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module</a:t>
            </a:r>
            <a:endParaRPr lang="en-US" sz="975" dirty="0"/>
          </a:p>
        </p:txBody>
      </p:sp>
      <p:sp>
        <p:nvSpPr>
          <p:cNvPr id="86" name="Shape 84"/>
          <p:cNvSpPr/>
          <p:nvPr/>
        </p:nvSpPr>
        <p:spPr>
          <a:xfrm>
            <a:off x="4427220" y="4411980"/>
            <a:ext cx="693420" cy="6934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4617720" y="4579620"/>
            <a:ext cx="35052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2400" dirty="0"/>
          </a:p>
        </p:txBody>
      </p:sp>
      <p:sp>
        <p:nvSpPr>
          <p:cNvPr id="88" name="Shape 86"/>
          <p:cNvSpPr/>
          <p:nvPr/>
        </p:nvSpPr>
        <p:spPr>
          <a:xfrm>
            <a:off x="1089660" y="5669280"/>
            <a:ext cx="7254240" cy="68580"/>
          </a:xfrm>
          <a:prstGeom prst="roundRect">
            <a:avLst>
              <a:gd name="adj" fmla="val 44444"/>
            </a:avLst>
          </a:prstGeom>
          <a:solidFill>
            <a:srgbClr val="50535A"/>
          </a:solidFill>
          <a:ln w="12700">
            <a:solidFill>
              <a:srgbClr val="50535A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89660" y="5669280"/>
            <a:ext cx="2430780" cy="68580"/>
          </a:xfrm>
          <a:prstGeom prst="roundRect">
            <a:avLst>
              <a:gd name="adj" fmla="val 44444"/>
            </a:avLst>
          </a:prstGeom>
          <a:solidFill>
            <a:srgbClr val="E60000"/>
          </a:solidFill>
          <a:ln w="12700">
            <a:solidFill>
              <a:srgbClr val="E60000">
                <a:alpha val="0"/>
              </a:srgbClr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1089660" y="5806440"/>
            <a:ext cx="2057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6E6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01:28 / 04:30</a:t>
            </a:r>
            <a:endParaRPr lang="en-US" sz="825" dirty="0"/>
          </a:p>
        </p:txBody>
      </p:sp>
      <p:sp>
        <p:nvSpPr>
          <p:cNvPr id="91" name="Shape 89"/>
          <p:cNvSpPr/>
          <p:nvPr/>
        </p:nvSpPr>
        <p:spPr>
          <a:xfrm>
            <a:off x="8694420" y="3672840"/>
            <a:ext cx="2926080" cy="237744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8907780" y="3870960"/>
            <a:ext cx="249174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will learn</a:t>
            </a:r>
            <a:endParaRPr lang="en-US" sz="1650" dirty="0"/>
          </a:p>
        </p:txBody>
      </p:sp>
      <p:sp>
        <p:nvSpPr>
          <p:cNvPr id="93" name="Text 91"/>
          <p:cNvSpPr txBox="1"/>
          <p:nvPr/>
        </p:nvSpPr>
        <p:spPr>
          <a:xfrm>
            <a:off x="8907780" y="4130040"/>
            <a:ext cx="2514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the video before continuing.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8907780" y="4411980"/>
            <a:ext cx="320040" cy="281940"/>
          </a:xfrm>
          <a:prstGeom prst="roundRect">
            <a:avLst>
              <a:gd name="adj" fmla="val 24324"/>
            </a:avLst>
          </a:prstGeom>
          <a:solidFill>
            <a:srgbClr val="E7F4E4"/>
          </a:solidFill>
          <a:ln w="12700">
            <a:solidFill>
              <a:srgbClr val="E7F4E4">
                <a:alpha val="0"/>
              </a:srgbClr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8907780" y="4427220"/>
            <a:ext cx="3200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98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96" name="Text 94"/>
          <p:cNvSpPr txBox="1"/>
          <p:nvPr/>
        </p:nvSpPr>
        <p:spPr>
          <a:xfrm>
            <a:off x="9334500" y="4434840"/>
            <a:ext cx="211836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Recognise phishing signals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8907780" y="4785360"/>
            <a:ext cx="320040" cy="281940"/>
          </a:xfrm>
          <a:prstGeom prst="roundRect">
            <a:avLst>
              <a:gd name="adj" fmla="val 24324"/>
            </a:avLst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8907780" y="4800600"/>
            <a:ext cx="3200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5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99" name="Text 97"/>
          <p:cNvSpPr txBox="1"/>
          <p:nvPr/>
        </p:nvSpPr>
        <p:spPr>
          <a:xfrm>
            <a:off x="9334500" y="4808220"/>
            <a:ext cx="211836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 sender and links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8907780" y="5158740"/>
            <a:ext cx="320040" cy="281940"/>
          </a:xfrm>
          <a:prstGeom prst="roundRect">
            <a:avLst>
              <a:gd name="adj" fmla="val 24324"/>
            </a:avLst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8907780" y="5173980"/>
            <a:ext cx="3200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5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102" name="Text 100"/>
          <p:cNvSpPr txBox="1"/>
          <p:nvPr/>
        </p:nvSpPr>
        <p:spPr>
          <a:xfrm>
            <a:off x="9334500" y="5181600"/>
            <a:ext cx="211836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suspicious emails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8907780" y="5631180"/>
            <a:ext cx="2491740" cy="304800"/>
          </a:xfrm>
          <a:prstGeom prst="roundRect">
            <a:avLst>
              <a:gd name="adj" fmla="val 27500"/>
            </a:avLst>
          </a:prstGeom>
          <a:solidFill>
            <a:srgbClr val="7CDA65"/>
          </a:solidFill>
          <a:ln w="12700">
            <a:solidFill>
              <a:srgbClr val="7CDA65">
                <a:alpha val="0"/>
              </a:srgbClr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8983980" y="5638800"/>
            <a:ext cx="233934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to quiz  →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10160">
            <a:solidFill>
              <a:srgbClr val="E9ED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7640" y="701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7640" y="777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3840" y="701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3840" y="777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074420"/>
            <a:ext cx="91440" cy="1295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3360" y="1112520"/>
            <a:ext cx="45720" cy="0"/>
          </a:xfrm>
          <a:prstGeom prst="line">
            <a:avLst/>
          </a:prstGeom>
          <a:noFill/>
          <a:ln w="11430">
            <a:solidFill>
              <a:srgbClr val="91A4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7640" y="1470660"/>
            <a:ext cx="121920" cy="9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" y="1562100"/>
            <a:ext cx="-15240" cy="30480"/>
          </a:xfrm>
          <a:prstGeom prst="line">
            <a:avLst/>
          </a:prstGeom>
          <a:noFill/>
          <a:ln w="12700">
            <a:solidFill>
              <a:srgbClr val="91A4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7640" y="1844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7640" y="1920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3840" y="1844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3840" y="1920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217420"/>
            <a:ext cx="91440" cy="1295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3360" y="2255520"/>
            <a:ext cx="45720" cy="0"/>
          </a:xfrm>
          <a:prstGeom prst="line">
            <a:avLst/>
          </a:prstGeom>
          <a:noFill/>
          <a:ln w="11430">
            <a:solidFill>
              <a:srgbClr val="91A4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7640" y="2613660"/>
            <a:ext cx="121920" cy="9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" y="2705100"/>
            <a:ext cx="-15240" cy="30480"/>
          </a:xfrm>
          <a:prstGeom prst="line">
            <a:avLst/>
          </a:prstGeom>
          <a:noFill/>
          <a:ln w="12700">
            <a:solidFill>
              <a:srgbClr val="91A4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7640" y="2987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7640" y="3063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3840" y="2987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3840" y="3063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3360420"/>
            <a:ext cx="91440" cy="1295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3360" y="3398520"/>
            <a:ext cx="45720" cy="0"/>
          </a:xfrm>
          <a:prstGeom prst="line">
            <a:avLst/>
          </a:prstGeom>
          <a:noFill/>
          <a:ln w="11430">
            <a:solidFill>
              <a:srgbClr val="91A4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7640" y="3756660"/>
            <a:ext cx="121920" cy="9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0500" y="3848100"/>
            <a:ext cx="-15240" cy="30480"/>
          </a:xfrm>
          <a:prstGeom prst="line">
            <a:avLst/>
          </a:prstGeom>
          <a:noFill/>
          <a:ln w="12700">
            <a:solidFill>
              <a:srgbClr val="91A4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7640" y="4130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7640" y="4206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3840" y="4130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3840" y="4206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4503420"/>
            <a:ext cx="91440" cy="1295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3360" y="4541520"/>
            <a:ext cx="45720" cy="0"/>
          </a:xfrm>
          <a:prstGeom prst="line">
            <a:avLst/>
          </a:prstGeom>
          <a:noFill/>
          <a:ln w="11430">
            <a:solidFill>
              <a:srgbClr val="91A4B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7640" y="4899660"/>
            <a:ext cx="121920" cy="9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0500" y="4991100"/>
            <a:ext cx="-15240" cy="30480"/>
          </a:xfrm>
          <a:prstGeom prst="line">
            <a:avLst/>
          </a:prstGeom>
          <a:noFill/>
          <a:ln w="12700">
            <a:solidFill>
              <a:srgbClr val="91A4B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960" y="5311140"/>
            <a:ext cx="335280" cy="327660"/>
          </a:xfrm>
          <a:prstGeom prst="roundRect">
            <a:avLst>
              <a:gd name="adj" fmla="val 20930"/>
            </a:avLst>
          </a:prstGeom>
          <a:solidFill>
            <a:srgbClr val="FDE9EB"/>
          </a:solidFill>
          <a:ln w="12700">
            <a:solidFill>
              <a:srgbClr val="FDE9EB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60020" y="5372100"/>
            <a:ext cx="1371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E6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◇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67640" y="5463540"/>
            <a:ext cx="121920" cy="0"/>
          </a:xfrm>
          <a:prstGeom prst="line">
            <a:avLst/>
          </a:prstGeom>
          <a:noFill/>
          <a:ln w="13970">
            <a:solidFill>
              <a:srgbClr val="E6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4300" y="6393180"/>
            <a:ext cx="251460" cy="259080"/>
          </a:xfrm>
          <a:prstGeom prst="roundRect">
            <a:avLst>
              <a:gd name="adj" fmla="val 15152"/>
            </a:avLst>
          </a:prstGeom>
          <a:solidFill>
            <a:srgbClr val="C80065"/>
          </a:solidFill>
          <a:ln w="12700">
            <a:solidFill>
              <a:srgbClr val="C80065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14300" y="6400800"/>
            <a:ext cx="2514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464820" y="0"/>
            <a:ext cx="11727180" cy="381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08660" y="129540"/>
            <a:ext cx="4724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VOIS</a:t>
            </a:r>
            <a:endParaRPr lang="en-US" sz="1725" dirty="0"/>
          </a:p>
        </p:txBody>
      </p:sp>
      <p:sp>
        <p:nvSpPr>
          <p:cNvPr id="43" name="Text 41"/>
          <p:cNvSpPr txBox="1"/>
          <p:nvPr/>
        </p:nvSpPr>
        <p:spPr>
          <a:xfrm>
            <a:off x="1150620" y="129540"/>
            <a:ext cx="6248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E6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Shield</a:t>
            </a:r>
            <a:endParaRPr lang="en-US" sz="1725" dirty="0"/>
          </a:p>
        </p:txBody>
      </p:sp>
      <p:sp>
        <p:nvSpPr>
          <p:cNvPr id="44" name="Text 42"/>
          <p:cNvSpPr txBox="1"/>
          <p:nvPr/>
        </p:nvSpPr>
        <p:spPr>
          <a:xfrm>
            <a:off x="1744980" y="129540"/>
            <a:ext cx="12192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25" dirty="0"/>
          </a:p>
        </p:txBody>
      </p:sp>
      <p:sp>
        <p:nvSpPr>
          <p:cNvPr id="45" name="Text 43"/>
          <p:cNvSpPr txBox="1"/>
          <p:nvPr/>
        </p:nvSpPr>
        <p:spPr>
          <a:xfrm>
            <a:off x="9144000" y="129540"/>
            <a:ext cx="2087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Contact:  abhay.hs1@vodafone.com</a:t>
            </a:r>
            <a:endParaRPr lang="en-US" sz="975" dirty="0"/>
          </a:p>
        </p:txBody>
      </p:sp>
      <p:sp>
        <p:nvSpPr>
          <p:cNvPr id="46" name="Shape 44"/>
          <p:cNvSpPr/>
          <p:nvPr/>
        </p:nvSpPr>
        <p:spPr>
          <a:xfrm>
            <a:off x="11353800" y="83820"/>
            <a:ext cx="495300" cy="251460"/>
          </a:xfrm>
          <a:prstGeom prst="roundRect">
            <a:avLst>
              <a:gd name="adj" fmla="val 27273"/>
            </a:avLst>
          </a:prstGeom>
          <a:solidFill>
            <a:srgbClr val="F1F3F7"/>
          </a:solidFill>
          <a:ln w="12700">
            <a:solidFill>
              <a:srgbClr val="F1F3F7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1445240" y="114300"/>
            <a:ext cx="3124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◦   ☾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09600" y="579120"/>
            <a:ext cx="11391900" cy="373380"/>
          </a:xfrm>
          <a:prstGeom prst="roundRect">
            <a:avLst>
              <a:gd name="adj" fmla="val 16327"/>
            </a:avLst>
          </a:prstGeom>
          <a:solidFill>
            <a:srgbClr val="202127"/>
          </a:solidFill>
          <a:ln w="12700">
            <a:solidFill>
              <a:srgbClr val="202127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9600" y="632460"/>
            <a:ext cx="30480" cy="25908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23900" y="624840"/>
            <a:ext cx="3314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Training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8458200" y="655320"/>
            <a:ext cx="3345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D3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assigned learning and stay resilient.</a:t>
            </a:r>
            <a:endParaRPr lang="en-US" sz="975" dirty="0"/>
          </a:p>
        </p:txBody>
      </p:sp>
      <p:sp>
        <p:nvSpPr>
          <p:cNvPr id="52" name="Text 50"/>
          <p:cNvSpPr txBox="1"/>
          <p:nvPr/>
        </p:nvSpPr>
        <p:spPr>
          <a:xfrm>
            <a:off x="11201400" y="6484620"/>
            <a:ext cx="6781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06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723900" y="1127760"/>
            <a:ext cx="53340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30" kern="0" dirty="0">
                <a:solidFill>
                  <a:srgbClr val="899D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CHECK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723900" y="1295400"/>
            <a:ext cx="693420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6 of 10</a:t>
            </a:r>
            <a:endParaRPr lang="en-US" sz="2700" dirty="0"/>
          </a:p>
        </p:txBody>
      </p:sp>
      <p:sp>
        <p:nvSpPr>
          <p:cNvPr id="55" name="Text 53"/>
          <p:cNvSpPr txBox="1"/>
          <p:nvPr/>
        </p:nvSpPr>
        <p:spPr>
          <a:xfrm>
            <a:off x="723900" y="1653540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one response. A final score of 80% is required.</a:t>
            </a:r>
            <a:endParaRPr lang="en-US" sz="1125" dirty="0"/>
          </a:p>
        </p:txBody>
      </p:sp>
      <p:sp>
        <p:nvSpPr>
          <p:cNvPr id="56" name="Shape 54"/>
          <p:cNvSpPr/>
          <p:nvPr/>
        </p:nvSpPr>
        <p:spPr>
          <a:xfrm>
            <a:off x="8496300" y="1226820"/>
            <a:ext cx="3337560" cy="579120"/>
          </a:xfrm>
          <a:prstGeom prst="roundRect">
            <a:avLst>
              <a:gd name="adj" fmla="val 19737"/>
            </a:avLst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602980" y="1303020"/>
            <a:ext cx="9296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</a:t>
            </a:r>
            <a:endParaRPr lang="en-US" sz="1800" dirty="0"/>
          </a:p>
        </p:txBody>
      </p:sp>
      <p:sp>
        <p:nvSpPr>
          <p:cNvPr id="58" name="Text 56"/>
          <p:cNvSpPr txBox="1"/>
          <p:nvPr/>
        </p:nvSpPr>
        <p:spPr>
          <a:xfrm>
            <a:off x="8602980" y="1577340"/>
            <a:ext cx="929640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9532620" y="1341120"/>
            <a:ext cx="0" cy="358140"/>
          </a:xfrm>
          <a:prstGeom prst="line">
            <a:avLst/>
          </a:prstGeom>
          <a:noFill/>
          <a:ln w="8890">
            <a:solidFill>
              <a:srgbClr val="D6DDE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639300" y="1303020"/>
            <a:ext cx="9296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8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</a:t>
            </a:r>
            <a:endParaRPr lang="en-US" sz="1800" dirty="0"/>
          </a:p>
        </p:txBody>
      </p:sp>
      <p:sp>
        <p:nvSpPr>
          <p:cNvPr id="61" name="Text 59"/>
          <p:cNvSpPr txBox="1"/>
          <p:nvPr/>
        </p:nvSpPr>
        <p:spPr>
          <a:xfrm>
            <a:off x="9639300" y="1577340"/>
            <a:ext cx="929640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SCORE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0568940" y="1341120"/>
            <a:ext cx="0" cy="358140"/>
          </a:xfrm>
          <a:prstGeom prst="line">
            <a:avLst/>
          </a:prstGeom>
          <a:noFill/>
          <a:ln w="8890">
            <a:solidFill>
              <a:srgbClr val="D6DDE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0675620" y="1303020"/>
            <a:ext cx="9296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5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800" dirty="0"/>
          </a:p>
        </p:txBody>
      </p:sp>
      <p:sp>
        <p:nvSpPr>
          <p:cNvPr id="64" name="Text 62"/>
          <p:cNvSpPr txBox="1"/>
          <p:nvPr/>
        </p:nvSpPr>
        <p:spPr>
          <a:xfrm>
            <a:off x="10675620" y="1577340"/>
            <a:ext cx="929640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716280" y="1912620"/>
            <a:ext cx="3634740" cy="44196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8680" y="2011680"/>
            <a:ext cx="220980" cy="220980"/>
          </a:xfrm>
          <a:prstGeom prst="roundRect">
            <a:avLst>
              <a:gd name="adj" fmla="val 20690"/>
            </a:avLst>
          </a:prstGeom>
          <a:solidFill>
            <a:srgbClr val="7CDA65"/>
          </a:solidFill>
          <a:ln w="12700">
            <a:solidFill>
              <a:srgbClr val="7CDA65">
                <a:alpha val="0"/>
              </a:srgbClr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68680" y="2011680"/>
            <a:ext cx="22098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975" dirty="0"/>
          </a:p>
        </p:txBody>
      </p:sp>
      <p:sp>
        <p:nvSpPr>
          <p:cNvPr id="68" name="Text 66"/>
          <p:cNvSpPr txBox="1"/>
          <p:nvPr/>
        </p:nvSpPr>
        <p:spPr>
          <a:xfrm>
            <a:off x="1188720" y="2004060"/>
            <a:ext cx="1783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TRAINED</a:t>
            </a:r>
            <a:endParaRPr lang="en-US" sz="1125" dirty="0"/>
          </a:p>
        </p:txBody>
      </p:sp>
      <p:sp>
        <p:nvSpPr>
          <p:cNvPr id="69" name="Text 67"/>
          <p:cNvSpPr txBox="1"/>
          <p:nvPr/>
        </p:nvSpPr>
        <p:spPr>
          <a:xfrm>
            <a:off x="3116580" y="2042160"/>
            <a:ext cx="10744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298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Completed</a:t>
            </a:r>
            <a:endParaRPr lang="en-US" sz="825" dirty="0"/>
          </a:p>
        </p:txBody>
      </p:sp>
      <p:sp>
        <p:nvSpPr>
          <p:cNvPr id="70" name="Shape 68"/>
          <p:cNvSpPr/>
          <p:nvPr/>
        </p:nvSpPr>
        <p:spPr>
          <a:xfrm>
            <a:off x="4457700" y="1912620"/>
            <a:ext cx="3634740" cy="441960"/>
          </a:xfrm>
          <a:prstGeom prst="roundRect">
            <a:avLst>
              <a:gd name="adj" fmla="val 17241"/>
            </a:avLst>
          </a:prstGeom>
          <a:solidFill>
            <a:srgbClr val="202127"/>
          </a:solidFill>
          <a:ln w="12700">
            <a:solidFill>
              <a:srgbClr val="202127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610100" y="2011680"/>
            <a:ext cx="220980" cy="220980"/>
          </a:xfrm>
          <a:prstGeom prst="roundRect">
            <a:avLst>
              <a:gd name="adj" fmla="val 20690"/>
            </a:avLst>
          </a:prstGeom>
          <a:solidFill>
            <a:srgbClr val="7CDA65"/>
          </a:solidFill>
          <a:ln w="12700">
            <a:solidFill>
              <a:srgbClr val="7CDA65">
                <a:alpha val="0"/>
              </a:srgbClr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4610100" y="2011680"/>
            <a:ext cx="22098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75" dirty="0"/>
          </a:p>
        </p:txBody>
      </p:sp>
      <p:sp>
        <p:nvSpPr>
          <p:cNvPr id="73" name="Text 71"/>
          <p:cNvSpPr txBox="1"/>
          <p:nvPr/>
        </p:nvSpPr>
        <p:spPr>
          <a:xfrm>
            <a:off x="4930140" y="2004060"/>
            <a:ext cx="1783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QUIZ</a:t>
            </a:r>
            <a:endParaRPr lang="en-US" sz="1125" dirty="0"/>
          </a:p>
        </p:txBody>
      </p:sp>
      <p:sp>
        <p:nvSpPr>
          <p:cNvPr id="74" name="Text 72"/>
          <p:cNvSpPr txBox="1"/>
          <p:nvPr/>
        </p:nvSpPr>
        <p:spPr>
          <a:xfrm>
            <a:off x="6858000" y="2042160"/>
            <a:ext cx="10744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CDD2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step</a:t>
            </a:r>
            <a:endParaRPr lang="en-US" sz="825" dirty="0"/>
          </a:p>
        </p:txBody>
      </p:sp>
      <p:sp>
        <p:nvSpPr>
          <p:cNvPr id="75" name="Shape 73"/>
          <p:cNvSpPr/>
          <p:nvPr/>
        </p:nvSpPr>
        <p:spPr>
          <a:xfrm>
            <a:off x="8206740" y="1912620"/>
            <a:ext cx="3634740" cy="44196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359140" y="2011680"/>
            <a:ext cx="220980" cy="220980"/>
          </a:xfrm>
          <a:prstGeom prst="roundRect">
            <a:avLst>
              <a:gd name="adj" fmla="val 20690"/>
            </a:avLst>
          </a:prstGeom>
          <a:solidFill>
            <a:srgbClr val="202127"/>
          </a:solidFill>
          <a:ln w="12700">
            <a:solidFill>
              <a:srgbClr val="202127">
                <a:alpha val="0"/>
              </a:srgbClr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8359140" y="2011680"/>
            <a:ext cx="22098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75" dirty="0"/>
          </a:p>
        </p:txBody>
      </p:sp>
      <p:sp>
        <p:nvSpPr>
          <p:cNvPr id="78" name="Text 76"/>
          <p:cNvSpPr txBox="1"/>
          <p:nvPr/>
        </p:nvSpPr>
        <p:spPr>
          <a:xfrm>
            <a:off x="8679180" y="2004060"/>
            <a:ext cx="1783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COMPLETION</a:t>
            </a:r>
            <a:endParaRPr lang="en-US" sz="1125" dirty="0"/>
          </a:p>
        </p:txBody>
      </p:sp>
      <p:sp>
        <p:nvSpPr>
          <p:cNvPr id="79" name="Text 77"/>
          <p:cNvSpPr txBox="1"/>
          <p:nvPr/>
        </p:nvSpPr>
        <p:spPr>
          <a:xfrm>
            <a:off x="10607040" y="2042160"/>
            <a:ext cx="10744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</a:t>
            </a:r>
            <a:endParaRPr lang="en-US" sz="825" dirty="0"/>
          </a:p>
        </p:txBody>
      </p:sp>
      <p:sp>
        <p:nvSpPr>
          <p:cNvPr id="80" name="Shape 78"/>
          <p:cNvSpPr/>
          <p:nvPr/>
        </p:nvSpPr>
        <p:spPr>
          <a:xfrm>
            <a:off x="716280" y="2476500"/>
            <a:ext cx="11079480" cy="3863340"/>
          </a:xfrm>
          <a:prstGeom prst="roundRect">
            <a:avLst>
              <a:gd name="adj" fmla="val 7495"/>
            </a:avLst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76300" y="2628900"/>
            <a:ext cx="7574280" cy="3512820"/>
          </a:xfrm>
          <a:prstGeom prst="roundRect">
            <a:avLst>
              <a:gd name="adj" fmla="val 78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89660" y="2766060"/>
            <a:ext cx="899160" cy="220980"/>
          </a:xfrm>
          <a:prstGeom prst="roundRect">
            <a:avLst>
              <a:gd name="adj" fmla="val 31034"/>
            </a:avLst>
          </a:prstGeom>
          <a:solidFill>
            <a:srgbClr val="EEE8FC"/>
          </a:solidFill>
          <a:ln w="12700">
            <a:solidFill>
              <a:srgbClr val="EEE8FC">
                <a:alpha val="0"/>
              </a:srgbClr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1143000" y="2773680"/>
            <a:ext cx="792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D5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06</a:t>
            </a:r>
            <a:endParaRPr lang="en-US" sz="975" dirty="0"/>
          </a:p>
        </p:txBody>
      </p:sp>
      <p:sp>
        <p:nvSpPr>
          <p:cNvPr id="84" name="Text 82"/>
          <p:cNvSpPr txBox="1"/>
          <p:nvPr/>
        </p:nvSpPr>
        <p:spPr>
          <a:xfrm>
            <a:off x="1089660" y="3063240"/>
            <a:ext cx="66827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Unexpected IT Support email</a:t>
            </a:r>
            <a:endParaRPr lang="en-US" sz="1875" dirty="0"/>
          </a:p>
        </p:txBody>
      </p:sp>
      <p:sp>
        <p:nvSpPr>
          <p:cNvPr id="85" name="Text 83"/>
          <p:cNvSpPr txBox="1"/>
          <p:nvPr/>
        </p:nvSpPr>
        <p:spPr>
          <a:xfrm>
            <a:off x="1089660" y="3429000"/>
            <a:ext cx="67513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receive an unexpected email stating that your corporate password expires in two hours.</a:t>
            </a:r>
            <a:endParaRPr lang="en-US" sz="1125" dirty="0"/>
          </a:p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message contains a link requiring immediate login.</a:t>
            </a:r>
            <a:endParaRPr lang="en-US" sz="1125" dirty="0"/>
          </a:p>
        </p:txBody>
      </p:sp>
      <p:sp>
        <p:nvSpPr>
          <p:cNvPr id="86" name="Shape 84"/>
          <p:cNvSpPr/>
          <p:nvPr/>
        </p:nvSpPr>
        <p:spPr>
          <a:xfrm>
            <a:off x="1089660" y="3962400"/>
            <a:ext cx="6903720" cy="342900"/>
          </a:xfrm>
          <a:prstGeom prst="roundRect">
            <a:avLst>
              <a:gd name="adj" fmla="val 24444"/>
            </a:avLst>
          </a:prstGeom>
          <a:solidFill>
            <a:srgbClr val="F8FAFC"/>
          </a:solidFill>
          <a:ln w="7620">
            <a:solidFill>
              <a:srgbClr val="DFE5E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65860" y="4008120"/>
            <a:ext cx="251460" cy="251460"/>
          </a:xfrm>
          <a:prstGeom prst="roundRect">
            <a:avLst>
              <a:gd name="adj" fmla="val 24242"/>
            </a:avLst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165860" y="4008120"/>
            <a:ext cx="2514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975" dirty="0"/>
          </a:p>
        </p:txBody>
      </p:sp>
      <p:sp>
        <p:nvSpPr>
          <p:cNvPr id="89" name="Text 87"/>
          <p:cNvSpPr txBox="1"/>
          <p:nvPr/>
        </p:nvSpPr>
        <p:spPr>
          <a:xfrm>
            <a:off x="1546860" y="3992880"/>
            <a:ext cx="589788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the link immediately to prevent losing access.</a:t>
            </a:r>
            <a:endParaRPr lang="en-US" sz="975" dirty="0"/>
          </a:p>
        </p:txBody>
      </p:sp>
      <p:sp>
        <p:nvSpPr>
          <p:cNvPr id="90" name="Shape 88"/>
          <p:cNvSpPr/>
          <p:nvPr/>
        </p:nvSpPr>
        <p:spPr>
          <a:xfrm>
            <a:off x="7680960" y="4069080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0A2B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89660" y="4373880"/>
            <a:ext cx="6903720" cy="342900"/>
          </a:xfrm>
          <a:prstGeom prst="roundRect">
            <a:avLst>
              <a:gd name="adj" fmla="val 24444"/>
            </a:avLst>
          </a:prstGeom>
          <a:solidFill>
            <a:srgbClr val="F8FAFC"/>
          </a:solidFill>
          <a:ln w="7620">
            <a:solidFill>
              <a:srgbClr val="DFE5E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65860" y="4419600"/>
            <a:ext cx="251460" cy="251460"/>
          </a:xfrm>
          <a:prstGeom prst="roundRect">
            <a:avLst>
              <a:gd name="adj" fmla="val 24242"/>
            </a:avLst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1165860" y="4419600"/>
            <a:ext cx="2514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975" dirty="0"/>
          </a:p>
        </p:txBody>
      </p:sp>
      <p:sp>
        <p:nvSpPr>
          <p:cNvPr id="94" name="Text 92"/>
          <p:cNvSpPr txBox="1"/>
          <p:nvPr/>
        </p:nvSpPr>
        <p:spPr>
          <a:xfrm>
            <a:off x="1546860" y="4404360"/>
            <a:ext cx="589788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Forward the email to a personal account to inspect it.</a:t>
            </a:r>
            <a:endParaRPr lang="en-US" sz="975" dirty="0"/>
          </a:p>
        </p:txBody>
      </p:sp>
      <p:sp>
        <p:nvSpPr>
          <p:cNvPr id="95" name="Shape 93"/>
          <p:cNvSpPr/>
          <p:nvPr/>
        </p:nvSpPr>
        <p:spPr>
          <a:xfrm>
            <a:off x="7680960" y="4480560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0A2B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89660" y="4785360"/>
            <a:ext cx="6903720" cy="342900"/>
          </a:xfrm>
          <a:prstGeom prst="roundRect">
            <a:avLst>
              <a:gd name="adj" fmla="val 24444"/>
            </a:avLst>
          </a:prstGeom>
          <a:solidFill>
            <a:srgbClr val="F3EFFB"/>
          </a:solidFill>
          <a:ln w="12700">
            <a:solidFill>
              <a:srgbClr val="7B63C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65860" y="4831080"/>
            <a:ext cx="251460" cy="251460"/>
          </a:xfrm>
          <a:prstGeom prst="roundRect">
            <a:avLst>
              <a:gd name="adj" fmla="val 24242"/>
            </a:avLst>
          </a:prstGeom>
          <a:solidFill>
            <a:srgbClr val="7A64B6"/>
          </a:solidFill>
          <a:ln w="12700">
            <a:solidFill>
              <a:srgbClr val="7A64B6">
                <a:alpha val="0"/>
              </a:srgbClr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1165860" y="4831080"/>
            <a:ext cx="2514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975" dirty="0"/>
          </a:p>
        </p:txBody>
      </p:sp>
      <p:sp>
        <p:nvSpPr>
          <p:cNvPr id="99" name="Text 97"/>
          <p:cNvSpPr txBox="1"/>
          <p:nvPr/>
        </p:nvSpPr>
        <p:spPr>
          <a:xfrm>
            <a:off x="1546860" y="4815840"/>
            <a:ext cx="589788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it using the phishing tool and verify with IT independently.</a:t>
            </a:r>
            <a:endParaRPr lang="en-US" sz="975" dirty="0"/>
          </a:p>
        </p:txBody>
      </p:sp>
      <p:sp>
        <p:nvSpPr>
          <p:cNvPr id="100" name="Shape 98"/>
          <p:cNvSpPr/>
          <p:nvPr/>
        </p:nvSpPr>
        <p:spPr>
          <a:xfrm>
            <a:off x="7680960" y="4892040"/>
            <a:ext cx="114300" cy="114300"/>
          </a:xfrm>
          <a:prstGeom prst="ellipse">
            <a:avLst/>
          </a:prstGeom>
          <a:solidFill>
            <a:srgbClr val="7A64B6"/>
          </a:solidFill>
          <a:ln w="12700">
            <a:solidFill>
              <a:srgbClr val="7A64B6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89660" y="5196840"/>
            <a:ext cx="6903720" cy="342900"/>
          </a:xfrm>
          <a:prstGeom prst="roundRect">
            <a:avLst>
              <a:gd name="adj" fmla="val 24444"/>
            </a:avLst>
          </a:prstGeom>
          <a:solidFill>
            <a:srgbClr val="F8FAFC"/>
          </a:solidFill>
          <a:ln w="7620">
            <a:solidFill>
              <a:srgbClr val="DFE5EE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165860" y="5242560"/>
            <a:ext cx="251460" cy="251460"/>
          </a:xfrm>
          <a:prstGeom prst="roundRect">
            <a:avLst>
              <a:gd name="adj" fmla="val 24242"/>
            </a:avLst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1165860" y="5242560"/>
            <a:ext cx="2514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975" dirty="0"/>
          </a:p>
        </p:txBody>
      </p:sp>
      <p:sp>
        <p:nvSpPr>
          <p:cNvPr id="104" name="Text 102"/>
          <p:cNvSpPr txBox="1"/>
          <p:nvPr/>
        </p:nvSpPr>
        <p:spPr>
          <a:xfrm>
            <a:off x="1546860" y="5227320"/>
            <a:ext cx="589788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Reply to the sender asking for confirmation.</a:t>
            </a:r>
            <a:endParaRPr lang="en-US" sz="975" dirty="0"/>
          </a:p>
        </p:txBody>
      </p:sp>
      <p:sp>
        <p:nvSpPr>
          <p:cNvPr id="105" name="Shape 103"/>
          <p:cNvSpPr/>
          <p:nvPr/>
        </p:nvSpPr>
        <p:spPr>
          <a:xfrm>
            <a:off x="7680960" y="5303520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0A2B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393180" y="5692140"/>
            <a:ext cx="1600200" cy="320040"/>
          </a:xfrm>
          <a:prstGeom prst="roundRect">
            <a:avLst>
              <a:gd name="adj" fmla="val 26190"/>
            </a:avLst>
          </a:prstGeom>
          <a:solidFill>
            <a:srgbClr val="7CDA65"/>
          </a:solidFill>
          <a:ln w="12700">
            <a:solidFill>
              <a:srgbClr val="7CDA65">
                <a:alpha val="0"/>
              </a:srgbClr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6469380" y="5699760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 answer  →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8595360" y="2628900"/>
            <a:ext cx="3040380" cy="3512820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8808720" y="2796540"/>
            <a:ext cx="2560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Assessment status</a:t>
            </a:r>
            <a:endParaRPr lang="en-US" sz="1650" dirty="0"/>
          </a:p>
        </p:txBody>
      </p:sp>
      <p:sp>
        <p:nvSpPr>
          <p:cNvPr id="110" name="Text 108"/>
          <p:cNvSpPr txBox="1"/>
          <p:nvPr/>
        </p:nvSpPr>
        <p:spPr>
          <a:xfrm>
            <a:off x="8808720" y="3139440"/>
            <a:ext cx="1524000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score</a:t>
            </a:r>
            <a:endParaRPr lang="en-US" sz="900" dirty="0"/>
          </a:p>
        </p:txBody>
      </p:sp>
      <p:sp>
        <p:nvSpPr>
          <p:cNvPr id="111" name="Text 109"/>
          <p:cNvSpPr txBox="1"/>
          <p:nvPr/>
        </p:nvSpPr>
        <p:spPr>
          <a:xfrm>
            <a:off x="8808720" y="3291840"/>
            <a:ext cx="11049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98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</a:t>
            </a:r>
            <a:endParaRPr lang="en-US" sz="3000" dirty="0"/>
          </a:p>
        </p:txBody>
      </p:sp>
      <p:sp>
        <p:nvSpPr>
          <p:cNvPr id="112" name="Shape 110"/>
          <p:cNvSpPr/>
          <p:nvPr/>
        </p:nvSpPr>
        <p:spPr>
          <a:xfrm>
            <a:off x="10149840" y="3314700"/>
            <a:ext cx="1303020" cy="327660"/>
          </a:xfrm>
          <a:prstGeom prst="roundRect">
            <a:avLst>
              <a:gd name="adj" fmla="val 20930"/>
            </a:avLst>
          </a:prstGeom>
          <a:solidFill>
            <a:srgbClr val="E4F4DF"/>
          </a:solidFill>
          <a:ln w="12700">
            <a:solidFill>
              <a:srgbClr val="E4F4DF">
                <a:alpha val="0"/>
              </a:srgbClr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10203180" y="3322320"/>
            <a:ext cx="119634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298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◎  Target met</a:t>
            </a:r>
            <a:endParaRPr lang="en-US" sz="975" dirty="0"/>
          </a:p>
        </p:txBody>
      </p:sp>
      <p:sp>
        <p:nvSpPr>
          <p:cNvPr id="114" name="Shape 112"/>
          <p:cNvSpPr/>
          <p:nvPr/>
        </p:nvSpPr>
        <p:spPr>
          <a:xfrm>
            <a:off x="8808720" y="3764280"/>
            <a:ext cx="2575560" cy="0"/>
          </a:xfrm>
          <a:prstGeom prst="line">
            <a:avLst/>
          </a:prstGeom>
          <a:noFill/>
          <a:ln w="12700">
            <a:solidFill>
              <a:srgbClr val="DCE2EA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8808720" y="3909060"/>
            <a:ext cx="256032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navigator</a:t>
            </a:r>
            <a:endParaRPr lang="en-US" sz="1275" dirty="0"/>
          </a:p>
        </p:txBody>
      </p:sp>
      <p:sp>
        <p:nvSpPr>
          <p:cNvPr id="116" name="Shape 114"/>
          <p:cNvSpPr/>
          <p:nvPr/>
        </p:nvSpPr>
        <p:spPr>
          <a:xfrm>
            <a:off x="8816340" y="4236720"/>
            <a:ext cx="403860" cy="320040"/>
          </a:xfrm>
          <a:prstGeom prst="roundRect">
            <a:avLst>
              <a:gd name="adj" fmla="val 23810"/>
            </a:avLst>
          </a:prstGeom>
          <a:solidFill>
            <a:srgbClr val="E4F4DF"/>
          </a:solidFill>
          <a:ln w="12700">
            <a:solidFill>
              <a:srgbClr val="E4F4DF">
                <a:alpha val="0"/>
              </a:srgbClr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8816340" y="4244340"/>
            <a:ext cx="4038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298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75" dirty="0"/>
          </a:p>
        </p:txBody>
      </p:sp>
      <p:sp>
        <p:nvSpPr>
          <p:cNvPr id="118" name="Shape 116"/>
          <p:cNvSpPr/>
          <p:nvPr/>
        </p:nvSpPr>
        <p:spPr>
          <a:xfrm>
            <a:off x="9342120" y="4236720"/>
            <a:ext cx="403860" cy="320040"/>
          </a:xfrm>
          <a:prstGeom prst="roundRect">
            <a:avLst>
              <a:gd name="adj" fmla="val 23810"/>
            </a:avLst>
          </a:prstGeom>
          <a:solidFill>
            <a:srgbClr val="FFE5EA"/>
          </a:solidFill>
          <a:ln w="12700">
            <a:solidFill>
              <a:srgbClr val="FFE5EA">
                <a:alpha val="0"/>
              </a:srgbClr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9342120" y="4244340"/>
            <a:ext cx="4038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DD26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75" dirty="0"/>
          </a:p>
        </p:txBody>
      </p:sp>
      <p:sp>
        <p:nvSpPr>
          <p:cNvPr id="120" name="Shape 118"/>
          <p:cNvSpPr/>
          <p:nvPr/>
        </p:nvSpPr>
        <p:spPr>
          <a:xfrm>
            <a:off x="9867900" y="4236720"/>
            <a:ext cx="403860" cy="320040"/>
          </a:xfrm>
          <a:prstGeom prst="roundRect">
            <a:avLst>
              <a:gd name="adj" fmla="val 23810"/>
            </a:avLst>
          </a:prstGeom>
          <a:solidFill>
            <a:srgbClr val="E4F4DF"/>
          </a:solidFill>
          <a:ln w="12700">
            <a:solidFill>
              <a:srgbClr val="E4F4DF">
                <a:alpha val="0"/>
              </a:srgbClr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9867900" y="4244340"/>
            <a:ext cx="4038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298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75" dirty="0"/>
          </a:p>
        </p:txBody>
      </p:sp>
      <p:sp>
        <p:nvSpPr>
          <p:cNvPr id="122" name="Shape 120"/>
          <p:cNvSpPr/>
          <p:nvPr/>
        </p:nvSpPr>
        <p:spPr>
          <a:xfrm>
            <a:off x="10393680" y="4236720"/>
            <a:ext cx="403860" cy="320040"/>
          </a:xfrm>
          <a:prstGeom prst="roundRect">
            <a:avLst>
              <a:gd name="adj" fmla="val 23810"/>
            </a:avLst>
          </a:prstGeom>
          <a:solidFill>
            <a:srgbClr val="E4F4DF"/>
          </a:solidFill>
          <a:ln w="12700">
            <a:solidFill>
              <a:srgbClr val="E4F4DF">
                <a:alpha val="0"/>
              </a:srgbClr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10393680" y="4244340"/>
            <a:ext cx="4038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298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75" dirty="0"/>
          </a:p>
        </p:txBody>
      </p:sp>
      <p:sp>
        <p:nvSpPr>
          <p:cNvPr id="124" name="Shape 122"/>
          <p:cNvSpPr/>
          <p:nvPr/>
        </p:nvSpPr>
        <p:spPr>
          <a:xfrm>
            <a:off x="10919460" y="4236720"/>
            <a:ext cx="403860" cy="320040"/>
          </a:xfrm>
          <a:prstGeom prst="roundRect">
            <a:avLst>
              <a:gd name="adj" fmla="val 23810"/>
            </a:avLst>
          </a:prstGeom>
          <a:solidFill>
            <a:srgbClr val="FFE5EA"/>
          </a:solidFill>
          <a:ln w="12700">
            <a:solidFill>
              <a:srgbClr val="FFE5EA">
                <a:alpha val="0"/>
              </a:srgbClr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10919460" y="4244340"/>
            <a:ext cx="4038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DD26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75" dirty="0"/>
          </a:p>
        </p:txBody>
      </p:sp>
      <p:sp>
        <p:nvSpPr>
          <p:cNvPr id="126" name="Shape 124"/>
          <p:cNvSpPr/>
          <p:nvPr/>
        </p:nvSpPr>
        <p:spPr>
          <a:xfrm>
            <a:off x="8816340" y="4663440"/>
            <a:ext cx="403860" cy="320040"/>
          </a:xfrm>
          <a:prstGeom prst="roundRect">
            <a:avLst>
              <a:gd name="adj" fmla="val 23810"/>
            </a:avLst>
          </a:prstGeom>
          <a:solidFill>
            <a:srgbClr val="202127"/>
          </a:solidFill>
          <a:ln w="12700">
            <a:solidFill>
              <a:srgbClr val="202127">
                <a:alpha val="0"/>
              </a:srgbClr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8816340" y="4671060"/>
            <a:ext cx="4038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75" dirty="0"/>
          </a:p>
        </p:txBody>
      </p:sp>
      <p:sp>
        <p:nvSpPr>
          <p:cNvPr id="128" name="Shape 126"/>
          <p:cNvSpPr/>
          <p:nvPr/>
        </p:nvSpPr>
        <p:spPr>
          <a:xfrm>
            <a:off x="9342120" y="4663440"/>
            <a:ext cx="403860" cy="320040"/>
          </a:xfrm>
          <a:prstGeom prst="roundRect">
            <a:avLst>
              <a:gd name="adj" fmla="val 23810"/>
            </a:avLst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9342120" y="4671060"/>
            <a:ext cx="4038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75" dirty="0"/>
          </a:p>
        </p:txBody>
      </p:sp>
      <p:sp>
        <p:nvSpPr>
          <p:cNvPr id="130" name="Shape 128"/>
          <p:cNvSpPr/>
          <p:nvPr/>
        </p:nvSpPr>
        <p:spPr>
          <a:xfrm>
            <a:off x="9867900" y="4663440"/>
            <a:ext cx="403860" cy="320040"/>
          </a:xfrm>
          <a:prstGeom prst="roundRect">
            <a:avLst>
              <a:gd name="adj" fmla="val 23810"/>
            </a:avLst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9867900" y="4671060"/>
            <a:ext cx="4038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75" dirty="0"/>
          </a:p>
        </p:txBody>
      </p:sp>
      <p:sp>
        <p:nvSpPr>
          <p:cNvPr id="132" name="Shape 130"/>
          <p:cNvSpPr/>
          <p:nvPr/>
        </p:nvSpPr>
        <p:spPr>
          <a:xfrm>
            <a:off x="10393680" y="4663440"/>
            <a:ext cx="403860" cy="320040"/>
          </a:xfrm>
          <a:prstGeom prst="roundRect">
            <a:avLst>
              <a:gd name="adj" fmla="val 23810"/>
            </a:avLst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10393680" y="4671060"/>
            <a:ext cx="4038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975" dirty="0"/>
          </a:p>
        </p:txBody>
      </p:sp>
      <p:sp>
        <p:nvSpPr>
          <p:cNvPr id="134" name="Shape 132"/>
          <p:cNvSpPr/>
          <p:nvPr/>
        </p:nvSpPr>
        <p:spPr>
          <a:xfrm>
            <a:off x="10919460" y="4663440"/>
            <a:ext cx="403860" cy="320040"/>
          </a:xfrm>
          <a:prstGeom prst="roundRect">
            <a:avLst>
              <a:gd name="adj" fmla="val 23810"/>
            </a:avLst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10919460" y="4671060"/>
            <a:ext cx="4038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75" dirty="0"/>
          </a:p>
        </p:txBody>
      </p:sp>
      <p:sp>
        <p:nvSpPr>
          <p:cNvPr id="136" name="Shape 134"/>
          <p:cNvSpPr/>
          <p:nvPr/>
        </p:nvSpPr>
        <p:spPr>
          <a:xfrm>
            <a:off x="8808720" y="5204460"/>
            <a:ext cx="2590800" cy="289560"/>
          </a:xfrm>
          <a:prstGeom prst="roundRect">
            <a:avLst>
              <a:gd name="adj" fmla="val 23684"/>
            </a:avLst>
          </a:prstGeom>
          <a:solidFill>
            <a:srgbClr val="EFF3F8"/>
          </a:solidFill>
          <a:ln w="12700">
            <a:solidFill>
              <a:srgbClr val="EFF3F8">
                <a:alpha val="0"/>
              </a:srgbClr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8884920" y="5227320"/>
            <a:ext cx="24307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correct answers needed to pass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8808720" y="5585460"/>
            <a:ext cx="2590800" cy="304800"/>
          </a:xfrm>
          <a:prstGeom prst="roundRect">
            <a:avLst>
              <a:gd name="adj" fmla="val 22500"/>
            </a:avLst>
          </a:prstGeom>
          <a:solidFill>
            <a:srgbClr val="EEE8FC"/>
          </a:solidFill>
          <a:ln w="12700">
            <a:solidFill>
              <a:srgbClr val="EEE8FC">
                <a:alpha val="0"/>
              </a:srgbClr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8884920" y="5608320"/>
            <a:ext cx="24307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5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final score: 80%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10160">
            <a:solidFill>
              <a:srgbClr val="E9ED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7640" y="701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7640" y="777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3840" y="701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3840" y="777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074420"/>
            <a:ext cx="91440" cy="1295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3360" y="1112520"/>
            <a:ext cx="45720" cy="0"/>
          </a:xfrm>
          <a:prstGeom prst="line">
            <a:avLst/>
          </a:prstGeom>
          <a:noFill/>
          <a:ln w="11430">
            <a:solidFill>
              <a:srgbClr val="91A4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7640" y="1470660"/>
            <a:ext cx="121920" cy="9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" y="1562100"/>
            <a:ext cx="-15240" cy="30480"/>
          </a:xfrm>
          <a:prstGeom prst="line">
            <a:avLst/>
          </a:prstGeom>
          <a:noFill/>
          <a:ln w="12700">
            <a:solidFill>
              <a:srgbClr val="91A4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7640" y="1844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7640" y="1920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3840" y="1844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3840" y="1920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217420"/>
            <a:ext cx="91440" cy="1295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3360" y="2255520"/>
            <a:ext cx="45720" cy="0"/>
          </a:xfrm>
          <a:prstGeom prst="line">
            <a:avLst/>
          </a:prstGeom>
          <a:noFill/>
          <a:ln w="11430">
            <a:solidFill>
              <a:srgbClr val="91A4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7640" y="2613660"/>
            <a:ext cx="121920" cy="9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" y="2705100"/>
            <a:ext cx="-15240" cy="30480"/>
          </a:xfrm>
          <a:prstGeom prst="line">
            <a:avLst/>
          </a:prstGeom>
          <a:noFill/>
          <a:ln w="12700">
            <a:solidFill>
              <a:srgbClr val="91A4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7640" y="2987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7640" y="3063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3840" y="2987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3840" y="3063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3360420"/>
            <a:ext cx="91440" cy="1295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3360" y="3398520"/>
            <a:ext cx="45720" cy="0"/>
          </a:xfrm>
          <a:prstGeom prst="line">
            <a:avLst/>
          </a:prstGeom>
          <a:noFill/>
          <a:ln w="11430">
            <a:solidFill>
              <a:srgbClr val="91A4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7640" y="3756660"/>
            <a:ext cx="121920" cy="9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0500" y="3848100"/>
            <a:ext cx="-15240" cy="30480"/>
          </a:xfrm>
          <a:prstGeom prst="line">
            <a:avLst/>
          </a:prstGeom>
          <a:noFill/>
          <a:ln w="12700">
            <a:solidFill>
              <a:srgbClr val="91A4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7640" y="4130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7640" y="4206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3840" y="4130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3840" y="4206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4503420"/>
            <a:ext cx="91440" cy="1295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3360" y="4541520"/>
            <a:ext cx="45720" cy="0"/>
          </a:xfrm>
          <a:prstGeom prst="line">
            <a:avLst/>
          </a:prstGeom>
          <a:noFill/>
          <a:ln w="11430">
            <a:solidFill>
              <a:srgbClr val="91A4B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7640" y="4899660"/>
            <a:ext cx="121920" cy="9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0500" y="4991100"/>
            <a:ext cx="-15240" cy="30480"/>
          </a:xfrm>
          <a:prstGeom prst="line">
            <a:avLst/>
          </a:prstGeom>
          <a:noFill/>
          <a:ln w="12700">
            <a:solidFill>
              <a:srgbClr val="91A4B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960" y="5311140"/>
            <a:ext cx="335280" cy="327660"/>
          </a:xfrm>
          <a:prstGeom prst="roundRect">
            <a:avLst>
              <a:gd name="adj" fmla="val 20930"/>
            </a:avLst>
          </a:prstGeom>
          <a:solidFill>
            <a:srgbClr val="FDE9EB"/>
          </a:solidFill>
          <a:ln w="12700">
            <a:solidFill>
              <a:srgbClr val="FDE9EB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60020" y="5372100"/>
            <a:ext cx="1371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E6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◇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67640" y="5463540"/>
            <a:ext cx="121920" cy="0"/>
          </a:xfrm>
          <a:prstGeom prst="line">
            <a:avLst/>
          </a:prstGeom>
          <a:noFill/>
          <a:ln w="13970">
            <a:solidFill>
              <a:srgbClr val="E6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4300" y="6393180"/>
            <a:ext cx="251460" cy="259080"/>
          </a:xfrm>
          <a:prstGeom prst="roundRect">
            <a:avLst>
              <a:gd name="adj" fmla="val 15152"/>
            </a:avLst>
          </a:prstGeom>
          <a:solidFill>
            <a:srgbClr val="C80065"/>
          </a:solidFill>
          <a:ln w="12700">
            <a:solidFill>
              <a:srgbClr val="C80065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14300" y="6400800"/>
            <a:ext cx="2514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464820" y="0"/>
            <a:ext cx="11727180" cy="381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08660" y="129540"/>
            <a:ext cx="4724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VOIS</a:t>
            </a:r>
            <a:endParaRPr lang="en-US" sz="1725" dirty="0"/>
          </a:p>
        </p:txBody>
      </p:sp>
      <p:sp>
        <p:nvSpPr>
          <p:cNvPr id="43" name="Text 41"/>
          <p:cNvSpPr txBox="1"/>
          <p:nvPr/>
        </p:nvSpPr>
        <p:spPr>
          <a:xfrm>
            <a:off x="1150620" y="129540"/>
            <a:ext cx="6248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E6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Shield</a:t>
            </a:r>
            <a:endParaRPr lang="en-US" sz="1725" dirty="0"/>
          </a:p>
        </p:txBody>
      </p:sp>
      <p:sp>
        <p:nvSpPr>
          <p:cNvPr id="44" name="Text 42"/>
          <p:cNvSpPr txBox="1"/>
          <p:nvPr/>
        </p:nvSpPr>
        <p:spPr>
          <a:xfrm>
            <a:off x="1744980" y="129540"/>
            <a:ext cx="12192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25" dirty="0"/>
          </a:p>
        </p:txBody>
      </p:sp>
      <p:sp>
        <p:nvSpPr>
          <p:cNvPr id="45" name="Text 43"/>
          <p:cNvSpPr txBox="1"/>
          <p:nvPr/>
        </p:nvSpPr>
        <p:spPr>
          <a:xfrm>
            <a:off x="9144000" y="129540"/>
            <a:ext cx="2087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Contact:  abhay.hs1@vodafone.com</a:t>
            </a:r>
            <a:endParaRPr lang="en-US" sz="975" dirty="0"/>
          </a:p>
        </p:txBody>
      </p:sp>
      <p:sp>
        <p:nvSpPr>
          <p:cNvPr id="46" name="Shape 44"/>
          <p:cNvSpPr/>
          <p:nvPr/>
        </p:nvSpPr>
        <p:spPr>
          <a:xfrm>
            <a:off x="11353800" y="83820"/>
            <a:ext cx="495300" cy="251460"/>
          </a:xfrm>
          <a:prstGeom prst="roundRect">
            <a:avLst>
              <a:gd name="adj" fmla="val 27273"/>
            </a:avLst>
          </a:prstGeom>
          <a:solidFill>
            <a:srgbClr val="F1F3F7"/>
          </a:solidFill>
          <a:ln w="12700">
            <a:solidFill>
              <a:srgbClr val="F1F3F7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1445240" y="114300"/>
            <a:ext cx="3124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◦   ☾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09600" y="579120"/>
            <a:ext cx="11391900" cy="373380"/>
          </a:xfrm>
          <a:prstGeom prst="roundRect">
            <a:avLst>
              <a:gd name="adj" fmla="val 16327"/>
            </a:avLst>
          </a:prstGeom>
          <a:solidFill>
            <a:srgbClr val="202127"/>
          </a:solidFill>
          <a:ln w="12700">
            <a:solidFill>
              <a:srgbClr val="202127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9600" y="632460"/>
            <a:ext cx="30480" cy="25908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23900" y="624840"/>
            <a:ext cx="3314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Training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8458200" y="655320"/>
            <a:ext cx="3345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D3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assigned learning and stay resilient.</a:t>
            </a:r>
            <a:endParaRPr lang="en-US" sz="975" dirty="0"/>
          </a:p>
        </p:txBody>
      </p:sp>
      <p:sp>
        <p:nvSpPr>
          <p:cNvPr id="52" name="Text 50"/>
          <p:cNvSpPr txBox="1"/>
          <p:nvPr/>
        </p:nvSpPr>
        <p:spPr>
          <a:xfrm>
            <a:off x="11201400" y="6484620"/>
            <a:ext cx="6781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06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723900" y="1127760"/>
            <a:ext cx="53340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30" kern="0" dirty="0">
                <a:solidFill>
                  <a:srgbClr val="899D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COMPLETION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723900" y="1295400"/>
            <a:ext cx="693420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Assessment result</a:t>
            </a:r>
            <a:endParaRPr lang="en-US" sz="2700" dirty="0"/>
          </a:p>
        </p:txBody>
      </p:sp>
      <p:sp>
        <p:nvSpPr>
          <p:cNvPr id="55" name="Text 53"/>
          <p:cNvSpPr txBox="1"/>
          <p:nvPr/>
        </p:nvSpPr>
        <p:spPr>
          <a:xfrm>
            <a:off x="723900" y="1653540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the learning material and attempt the assessment again.</a:t>
            </a:r>
            <a:endParaRPr lang="en-US" sz="1125" dirty="0"/>
          </a:p>
        </p:txBody>
      </p:sp>
      <p:sp>
        <p:nvSpPr>
          <p:cNvPr id="56" name="Shape 54"/>
          <p:cNvSpPr/>
          <p:nvPr/>
        </p:nvSpPr>
        <p:spPr>
          <a:xfrm>
            <a:off x="716280" y="1912620"/>
            <a:ext cx="3634740" cy="44196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8680" y="2011680"/>
            <a:ext cx="220980" cy="220980"/>
          </a:xfrm>
          <a:prstGeom prst="roundRect">
            <a:avLst>
              <a:gd name="adj" fmla="val 20690"/>
            </a:avLst>
          </a:prstGeom>
          <a:solidFill>
            <a:srgbClr val="7CDA65"/>
          </a:solidFill>
          <a:ln w="12700">
            <a:solidFill>
              <a:srgbClr val="7CDA65">
                <a:alpha val="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68680" y="2011680"/>
            <a:ext cx="22098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975" dirty="0"/>
          </a:p>
        </p:txBody>
      </p:sp>
      <p:sp>
        <p:nvSpPr>
          <p:cNvPr id="59" name="Text 57"/>
          <p:cNvSpPr txBox="1"/>
          <p:nvPr/>
        </p:nvSpPr>
        <p:spPr>
          <a:xfrm>
            <a:off x="1188720" y="2004060"/>
            <a:ext cx="1783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TRAINED</a:t>
            </a:r>
            <a:endParaRPr lang="en-US" sz="1125" dirty="0"/>
          </a:p>
        </p:txBody>
      </p:sp>
      <p:sp>
        <p:nvSpPr>
          <p:cNvPr id="60" name="Text 58"/>
          <p:cNvSpPr txBox="1"/>
          <p:nvPr/>
        </p:nvSpPr>
        <p:spPr>
          <a:xfrm>
            <a:off x="3116580" y="2042160"/>
            <a:ext cx="10744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298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Completed</a:t>
            </a:r>
            <a:endParaRPr lang="en-US" sz="825" dirty="0"/>
          </a:p>
        </p:txBody>
      </p:sp>
      <p:sp>
        <p:nvSpPr>
          <p:cNvPr id="61" name="Shape 59"/>
          <p:cNvSpPr/>
          <p:nvPr/>
        </p:nvSpPr>
        <p:spPr>
          <a:xfrm>
            <a:off x="4457700" y="1912620"/>
            <a:ext cx="3634740" cy="44196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610100" y="2011680"/>
            <a:ext cx="220980" cy="220980"/>
          </a:xfrm>
          <a:prstGeom prst="roundRect">
            <a:avLst>
              <a:gd name="adj" fmla="val 20690"/>
            </a:avLst>
          </a:prstGeom>
          <a:solidFill>
            <a:srgbClr val="7CDA65"/>
          </a:solidFill>
          <a:ln w="12700">
            <a:solidFill>
              <a:srgbClr val="7CDA65">
                <a:alpha val="0"/>
              </a:srgbClr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610100" y="2011680"/>
            <a:ext cx="22098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975" dirty="0"/>
          </a:p>
        </p:txBody>
      </p:sp>
      <p:sp>
        <p:nvSpPr>
          <p:cNvPr id="64" name="Text 62"/>
          <p:cNvSpPr txBox="1"/>
          <p:nvPr/>
        </p:nvSpPr>
        <p:spPr>
          <a:xfrm>
            <a:off x="4930140" y="2004060"/>
            <a:ext cx="1783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QUIZ</a:t>
            </a:r>
            <a:endParaRPr lang="en-US" sz="1125" dirty="0"/>
          </a:p>
        </p:txBody>
      </p:sp>
      <p:sp>
        <p:nvSpPr>
          <p:cNvPr id="65" name="Text 63"/>
          <p:cNvSpPr txBox="1"/>
          <p:nvPr/>
        </p:nvSpPr>
        <p:spPr>
          <a:xfrm>
            <a:off x="6858000" y="2042160"/>
            <a:ext cx="10744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298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Completed</a:t>
            </a:r>
            <a:endParaRPr lang="en-US" sz="825" dirty="0"/>
          </a:p>
        </p:txBody>
      </p:sp>
      <p:sp>
        <p:nvSpPr>
          <p:cNvPr id="66" name="Shape 64"/>
          <p:cNvSpPr/>
          <p:nvPr/>
        </p:nvSpPr>
        <p:spPr>
          <a:xfrm>
            <a:off x="8206740" y="1912620"/>
            <a:ext cx="3634740" cy="441960"/>
          </a:xfrm>
          <a:prstGeom prst="roundRect">
            <a:avLst>
              <a:gd name="adj" fmla="val 17241"/>
            </a:avLst>
          </a:prstGeom>
          <a:solidFill>
            <a:srgbClr val="202127"/>
          </a:solidFill>
          <a:ln w="12700">
            <a:solidFill>
              <a:srgbClr val="202127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359140" y="2011680"/>
            <a:ext cx="220980" cy="220980"/>
          </a:xfrm>
          <a:prstGeom prst="roundRect">
            <a:avLst>
              <a:gd name="adj" fmla="val 20690"/>
            </a:avLst>
          </a:prstGeom>
          <a:solidFill>
            <a:srgbClr val="7CDA65"/>
          </a:solidFill>
          <a:ln w="12700">
            <a:solidFill>
              <a:srgbClr val="7CDA65">
                <a:alpha val="0"/>
              </a:srgbClr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359140" y="2011680"/>
            <a:ext cx="22098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75" dirty="0"/>
          </a:p>
        </p:txBody>
      </p:sp>
      <p:sp>
        <p:nvSpPr>
          <p:cNvPr id="69" name="Text 67"/>
          <p:cNvSpPr txBox="1"/>
          <p:nvPr/>
        </p:nvSpPr>
        <p:spPr>
          <a:xfrm>
            <a:off x="8679180" y="2004060"/>
            <a:ext cx="1783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COMPLETION</a:t>
            </a:r>
            <a:endParaRPr lang="en-US" sz="1125" dirty="0"/>
          </a:p>
        </p:txBody>
      </p:sp>
      <p:sp>
        <p:nvSpPr>
          <p:cNvPr id="70" name="Text 68"/>
          <p:cNvSpPr txBox="1"/>
          <p:nvPr/>
        </p:nvSpPr>
        <p:spPr>
          <a:xfrm>
            <a:off x="10607040" y="2042160"/>
            <a:ext cx="10744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CDD2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step</a:t>
            </a:r>
            <a:endParaRPr lang="en-US" sz="825" dirty="0"/>
          </a:p>
        </p:txBody>
      </p:sp>
      <p:sp>
        <p:nvSpPr>
          <p:cNvPr id="71" name="Shape 69"/>
          <p:cNvSpPr/>
          <p:nvPr/>
        </p:nvSpPr>
        <p:spPr>
          <a:xfrm>
            <a:off x="716280" y="2491740"/>
            <a:ext cx="1607820" cy="845820"/>
          </a:xfrm>
          <a:prstGeom prst="roundRect">
            <a:avLst>
              <a:gd name="adj" fmla="val 19820"/>
            </a:avLst>
          </a:prstGeom>
          <a:solidFill>
            <a:srgbClr val="EAE3FB"/>
          </a:solidFill>
          <a:ln w="12700">
            <a:solidFill>
              <a:srgbClr val="EAE3FB">
                <a:alpha val="0"/>
              </a:srgbClr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45820" y="2613660"/>
            <a:ext cx="1295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Completion</a:t>
            </a:r>
            <a:endParaRPr lang="en-US" sz="1725" dirty="0"/>
          </a:p>
          <a:p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passed</a:t>
            </a:r>
            <a:endParaRPr lang="en-US" sz="1725" dirty="0"/>
          </a:p>
        </p:txBody>
      </p:sp>
      <p:sp>
        <p:nvSpPr>
          <p:cNvPr id="73" name="Shape 71"/>
          <p:cNvSpPr/>
          <p:nvPr/>
        </p:nvSpPr>
        <p:spPr>
          <a:xfrm>
            <a:off x="2400300" y="2491740"/>
            <a:ext cx="9395460" cy="845820"/>
          </a:xfrm>
          <a:prstGeom prst="roundRect">
            <a:avLst>
              <a:gd name="adj" fmla="val 180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2598420" y="2621280"/>
            <a:ext cx="8793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learning is required</a:t>
            </a:r>
            <a:endParaRPr lang="en-US" sz="1500" dirty="0"/>
          </a:p>
        </p:txBody>
      </p:sp>
      <p:sp>
        <p:nvSpPr>
          <p:cNvPr id="75" name="Text 73"/>
          <p:cNvSpPr txBox="1"/>
          <p:nvPr/>
        </p:nvSpPr>
        <p:spPr>
          <a:xfrm>
            <a:off x="2598420" y="3025140"/>
            <a:ext cx="5943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score of 80% is required for successful completion.</a:t>
            </a:r>
            <a:endParaRPr lang="en-US" sz="975" dirty="0"/>
          </a:p>
        </p:txBody>
      </p:sp>
      <p:sp>
        <p:nvSpPr>
          <p:cNvPr id="76" name="Shape 74"/>
          <p:cNvSpPr/>
          <p:nvPr/>
        </p:nvSpPr>
        <p:spPr>
          <a:xfrm>
            <a:off x="716280" y="2491740"/>
            <a:ext cx="1607820" cy="845820"/>
          </a:xfrm>
          <a:prstGeom prst="roundRect">
            <a:avLst>
              <a:gd name="adj" fmla="val 19820"/>
            </a:avLst>
          </a:prstGeom>
          <a:solidFill>
            <a:srgbClr val="FFE5EA"/>
          </a:solidFill>
          <a:ln w="12700">
            <a:solidFill>
              <a:srgbClr val="FFE5EA">
                <a:alpha val="0"/>
              </a:srgbClr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845820" y="26289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Completion</a:t>
            </a:r>
            <a:endParaRPr lang="en-US" sz="1725" dirty="0"/>
          </a:p>
          <a:p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passed</a:t>
            </a:r>
            <a:endParaRPr lang="en-US" sz="1725" dirty="0"/>
          </a:p>
        </p:txBody>
      </p:sp>
      <p:sp>
        <p:nvSpPr>
          <p:cNvPr id="78" name="Shape 76"/>
          <p:cNvSpPr/>
          <p:nvPr/>
        </p:nvSpPr>
        <p:spPr>
          <a:xfrm>
            <a:off x="716280" y="3474720"/>
            <a:ext cx="11079480" cy="2758440"/>
          </a:xfrm>
          <a:prstGeom prst="roundRect">
            <a:avLst>
              <a:gd name="adj" fmla="val 10497"/>
            </a:avLst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76300" y="3649980"/>
            <a:ext cx="6804660" cy="2377440"/>
          </a:xfrm>
          <a:prstGeom prst="roundRect">
            <a:avLst>
              <a:gd name="adj" fmla="val 112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818120" y="3649980"/>
            <a:ext cx="3817620" cy="2377440"/>
          </a:xfrm>
          <a:prstGeom prst="roundRect">
            <a:avLst>
              <a:gd name="adj" fmla="val 112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1" name="Image 0" descr="/mnt/data/training_assets/retry_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787140"/>
            <a:ext cx="2034540" cy="2034540"/>
          </a:xfrm>
          <a:prstGeom prst="rect">
            <a:avLst/>
          </a:prstGeom>
        </p:spPr>
      </p:pic>
      <p:sp>
        <p:nvSpPr>
          <p:cNvPr id="82" name="Text 79"/>
          <p:cNvSpPr txBox="1"/>
          <p:nvPr/>
        </p:nvSpPr>
        <p:spPr>
          <a:xfrm>
            <a:off x="3208020" y="3977640"/>
            <a:ext cx="42138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Almost there</a:t>
            </a:r>
            <a:endParaRPr lang="en-US" sz="2850" dirty="0"/>
          </a:p>
        </p:txBody>
      </p:sp>
      <p:sp>
        <p:nvSpPr>
          <p:cNvPr id="83" name="Text 80"/>
          <p:cNvSpPr txBox="1"/>
          <p:nvPr/>
        </p:nvSpPr>
        <p:spPr>
          <a:xfrm>
            <a:off x="3208020" y="4465320"/>
            <a:ext cx="4099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achieved 50%. The required score is 80%.</a:t>
            </a:r>
            <a:endParaRPr lang="en-US" sz="1125" dirty="0"/>
          </a:p>
        </p:txBody>
      </p:sp>
      <p:sp>
        <p:nvSpPr>
          <p:cNvPr id="84" name="Shape 81"/>
          <p:cNvSpPr/>
          <p:nvPr/>
        </p:nvSpPr>
        <p:spPr>
          <a:xfrm>
            <a:off x="3208020" y="4876800"/>
            <a:ext cx="1120140" cy="289560"/>
          </a:xfrm>
          <a:prstGeom prst="roundRect">
            <a:avLst>
              <a:gd name="adj" fmla="val 23684"/>
            </a:avLst>
          </a:prstGeom>
          <a:solidFill>
            <a:srgbClr val="FFE5EA"/>
          </a:solidFill>
          <a:ln w="12700">
            <a:solidFill>
              <a:srgbClr val="FFE5EA">
                <a:alpha val="0"/>
              </a:srgbClr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3261360" y="4884420"/>
            <a:ext cx="101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DD26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5/10 correct</a:t>
            </a:r>
            <a:endParaRPr lang="en-US" sz="975" dirty="0"/>
          </a:p>
        </p:txBody>
      </p:sp>
      <p:sp>
        <p:nvSpPr>
          <p:cNvPr id="86" name="Shape 83"/>
          <p:cNvSpPr/>
          <p:nvPr/>
        </p:nvSpPr>
        <p:spPr>
          <a:xfrm>
            <a:off x="3208020" y="5341620"/>
            <a:ext cx="2293620" cy="396240"/>
          </a:xfrm>
          <a:prstGeom prst="roundRect">
            <a:avLst>
              <a:gd name="adj" fmla="val 21154"/>
            </a:avLst>
          </a:prstGeom>
          <a:solidFill>
            <a:srgbClr val="202127"/>
          </a:solidFill>
          <a:ln w="12700">
            <a:solidFill>
              <a:srgbClr val="202127">
                <a:alpha val="0"/>
              </a:srgbClr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3284220" y="5349240"/>
            <a:ext cx="21412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Retake training  ↻</a:t>
            </a:r>
            <a:endParaRPr lang="en-US" sz="1050" dirty="0"/>
          </a:p>
        </p:txBody>
      </p:sp>
      <p:sp>
        <p:nvSpPr>
          <p:cNvPr id="88" name="Text 85"/>
          <p:cNvSpPr txBox="1"/>
          <p:nvPr/>
        </p:nvSpPr>
        <p:spPr>
          <a:xfrm>
            <a:off x="8054340" y="3855720"/>
            <a:ext cx="31851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 summary</a:t>
            </a:r>
            <a:endParaRPr lang="en-US" sz="1725" dirty="0"/>
          </a:p>
        </p:txBody>
      </p:sp>
      <p:sp>
        <p:nvSpPr>
          <p:cNvPr id="89" name="Text 86"/>
          <p:cNvSpPr txBox="1"/>
          <p:nvPr/>
        </p:nvSpPr>
        <p:spPr>
          <a:xfrm>
            <a:off x="8054340" y="4244340"/>
            <a:ext cx="20802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score</a:t>
            </a:r>
            <a:endParaRPr lang="en-US" sz="975" dirty="0"/>
          </a:p>
        </p:txBody>
      </p:sp>
      <p:sp>
        <p:nvSpPr>
          <p:cNvPr id="90" name="Text 87"/>
          <p:cNvSpPr txBox="1"/>
          <p:nvPr/>
        </p:nvSpPr>
        <p:spPr>
          <a:xfrm>
            <a:off x="10195560" y="4244340"/>
            <a:ext cx="11353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DD26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endParaRPr lang="en-US" sz="1125" dirty="0"/>
          </a:p>
        </p:txBody>
      </p:sp>
      <p:sp>
        <p:nvSpPr>
          <p:cNvPr id="91" name="Shape 88"/>
          <p:cNvSpPr/>
          <p:nvPr/>
        </p:nvSpPr>
        <p:spPr>
          <a:xfrm>
            <a:off x="8054340" y="4495800"/>
            <a:ext cx="3261360" cy="0"/>
          </a:xfrm>
          <a:prstGeom prst="line">
            <a:avLst/>
          </a:prstGeom>
          <a:noFill/>
          <a:ln w="7620">
            <a:solidFill>
              <a:srgbClr val="EDF1F5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8054340" y="4564380"/>
            <a:ext cx="20802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answers</a:t>
            </a:r>
            <a:endParaRPr lang="en-US" sz="975" dirty="0"/>
          </a:p>
        </p:txBody>
      </p:sp>
      <p:sp>
        <p:nvSpPr>
          <p:cNvPr id="93" name="Text 90"/>
          <p:cNvSpPr txBox="1"/>
          <p:nvPr/>
        </p:nvSpPr>
        <p:spPr>
          <a:xfrm>
            <a:off x="10195560" y="4564380"/>
            <a:ext cx="11353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of 10</a:t>
            </a:r>
            <a:endParaRPr lang="en-US" sz="1125" dirty="0"/>
          </a:p>
        </p:txBody>
      </p:sp>
      <p:sp>
        <p:nvSpPr>
          <p:cNvPr id="94" name="Shape 91"/>
          <p:cNvSpPr/>
          <p:nvPr/>
        </p:nvSpPr>
        <p:spPr>
          <a:xfrm>
            <a:off x="8054340" y="4815840"/>
            <a:ext cx="3261360" cy="0"/>
          </a:xfrm>
          <a:prstGeom prst="line">
            <a:avLst/>
          </a:prstGeom>
          <a:noFill/>
          <a:ln w="7620">
            <a:solidFill>
              <a:srgbClr val="EDF1F5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8054340" y="4884420"/>
            <a:ext cx="20802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points</a:t>
            </a:r>
            <a:endParaRPr lang="en-US" sz="975" dirty="0"/>
          </a:p>
        </p:txBody>
      </p:sp>
      <p:sp>
        <p:nvSpPr>
          <p:cNvPr id="96" name="Text 93"/>
          <p:cNvSpPr txBox="1"/>
          <p:nvPr/>
        </p:nvSpPr>
        <p:spPr>
          <a:xfrm>
            <a:off x="10195560" y="4884420"/>
            <a:ext cx="11353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+25</a:t>
            </a:r>
            <a:endParaRPr lang="en-US" sz="1125" dirty="0"/>
          </a:p>
        </p:txBody>
      </p:sp>
      <p:sp>
        <p:nvSpPr>
          <p:cNvPr id="97" name="Shape 94"/>
          <p:cNvSpPr/>
          <p:nvPr/>
        </p:nvSpPr>
        <p:spPr>
          <a:xfrm>
            <a:off x="8054340" y="5135880"/>
            <a:ext cx="3261360" cy="0"/>
          </a:xfrm>
          <a:prstGeom prst="line">
            <a:avLst/>
          </a:prstGeom>
          <a:noFill/>
          <a:ln w="7620">
            <a:solidFill>
              <a:srgbClr val="EDF1F5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8054340" y="5204460"/>
            <a:ext cx="20802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points</a:t>
            </a:r>
            <a:endParaRPr lang="en-US" sz="975" dirty="0"/>
          </a:p>
        </p:txBody>
      </p:sp>
      <p:sp>
        <p:nvSpPr>
          <p:cNvPr id="99" name="Text 96"/>
          <p:cNvSpPr txBox="1"/>
          <p:nvPr/>
        </p:nvSpPr>
        <p:spPr>
          <a:xfrm>
            <a:off x="10195560" y="5204460"/>
            <a:ext cx="11353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</a:t>
            </a:r>
            <a:endParaRPr lang="en-US" sz="1125" dirty="0"/>
          </a:p>
        </p:txBody>
      </p:sp>
      <p:sp>
        <p:nvSpPr>
          <p:cNvPr id="100" name="Shape 97"/>
          <p:cNvSpPr/>
          <p:nvPr/>
        </p:nvSpPr>
        <p:spPr>
          <a:xfrm>
            <a:off x="8054340" y="5455920"/>
            <a:ext cx="3261360" cy="0"/>
          </a:xfrm>
          <a:prstGeom prst="line">
            <a:avLst/>
          </a:prstGeom>
          <a:noFill/>
          <a:ln w="7620">
            <a:solidFill>
              <a:srgbClr val="EDF1F5"/>
            </a:solidFill>
            <a:prstDash val="solid"/>
          </a:ln>
        </p:spPr>
      </p:sp>
      <p:sp>
        <p:nvSpPr>
          <p:cNvPr id="101" name="Text 98"/>
          <p:cNvSpPr txBox="1"/>
          <p:nvPr/>
        </p:nvSpPr>
        <p:spPr>
          <a:xfrm>
            <a:off x="8054340" y="5524500"/>
            <a:ext cx="20802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points</a:t>
            </a:r>
            <a:endParaRPr lang="en-US" sz="975" dirty="0"/>
          </a:p>
        </p:txBody>
      </p:sp>
      <p:sp>
        <p:nvSpPr>
          <p:cNvPr id="102" name="Text 99"/>
          <p:cNvSpPr txBox="1"/>
          <p:nvPr/>
        </p:nvSpPr>
        <p:spPr>
          <a:xfrm>
            <a:off x="10195560" y="5524500"/>
            <a:ext cx="11353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+25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10160">
            <a:solidFill>
              <a:srgbClr val="E9ED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7640" y="701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7640" y="777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3840" y="701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3840" y="777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074420"/>
            <a:ext cx="91440" cy="1295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3360" y="1112520"/>
            <a:ext cx="45720" cy="0"/>
          </a:xfrm>
          <a:prstGeom prst="line">
            <a:avLst/>
          </a:prstGeom>
          <a:noFill/>
          <a:ln w="11430">
            <a:solidFill>
              <a:srgbClr val="91A4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7640" y="1470660"/>
            <a:ext cx="121920" cy="9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" y="1562100"/>
            <a:ext cx="-15240" cy="30480"/>
          </a:xfrm>
          <a:prstGeom prst="line">
            <a:avLst/>
          </a:prstGeom>
          <a:noFill/>
          <a:ln w="12700">
            <a:solidFill>
              <a:srgbClr val="91A4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7640" y="1844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7640" y="1920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3840" y="1844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3840" y="1920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217420"/>
            <a:ext cx="91440" cy="1295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3360" y="2255520"/>
            <a:ext cx="45720" cy="0"/>
          </a:xfrm>
          <a:prstGeom prst="line">
            <a:avLst/>
          </a:prstGeom>
          <a:noFill/>
          <a:ln w="11430">
            <a:solidFill>
              <a:srgbClr val="91A4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7640" y="2613660"/>
            <a:ext cx="121920" cy="9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" y="2705100"/>
            <a:ext cx="-15240" cy="30480"/>
          </a:xfrm>
          <a:prstGeom prst="line">
            <a:avLst/>
          </a:prstGeom>
          <a:noFill/>
          <a:ln w="12700">
            <a:solidFill>
              <a:srgbClr val="91A4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7640" y="2987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7640" y="3063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3840" y="2987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3840" y="3063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3360420"/>
            <a:ext cx="91440" cy="1295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3360" y="3398520"/>
            <a:ext cx="45720" cy="0"/>
          </a:xfrm>
          <a:prstGeom prst="line">
            <a:avLst/>
          </a:prstGeom>
          <a:noFill/>
          <a:ln w="11430">
            <a:solidFill>
              <a:srgbClr val="91A4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7640" y="3756660"/>
            <a:ext cx="121920" cy="9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0500" y="3848100"/>
            <a:ext cx="-15240" cy="30480"/>
          </a:xfrm>
          <a:prstGeom prst="line">
            <a:avLst/>
          </a:prstGeom>
          <a:noFill/>
          <a:ln w="12700">
            <a:solidFill>
              <a:srgbClr val="91A4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7640" y="4130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7640" y="4206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3840" y="41300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3840" y="4206240"/>
            <a:ext cx="457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4503420"/>
            <a:ext cx="91440" cy="1295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3360" y="4541520"/>
            <a:ext cx="45720" cy="0"/>
          </a:xfrm>
          <a:prstGeom prst="line">
            <a:avLst/>
          </a:prstGeom>
          <a:noFill/>
          <a:ln w="11430">
            <a:solidFill>
              <a:srgbClr val="91A4B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7640" y="4899660"/>
            <a:ext cx="121920" cy="9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91A4B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0500" y="4991100"/>
            <a:ext cx="-15240" cy="30480"/>
          </a:xfrm>
          <a:prstGeom prst="line">
            <a:avLst/>
          </a:prstGeom>
          <a:noFill/>
          <a:ln w="12700">
            <a:solidFill>
              <a:srgbClr val="91A4B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960" y="5311140"/>
            <a:ext cx="335280" cy="327660"/>
          </a:xfrm>
          <a:prstGeom prst="roundRect">
            <a:avLst>
              <a:gd name="adj" fmla="val 20930"/>
            </a:avLst>
          </a:prstGeom>
          <a:solidFill>
            <a:srgbClr val="FDE9EB"/>
          </a:solidFill>
          <a:ln w="12700">
            <a:solidFill>
              <a:srgbClr val="FDE9EB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60020" y="5372100"/>
            <a:ext cx="1371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E6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◇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67640" y="5463540"/>
            <a:ext cx="121920" cy="0"/>
          </a:xfrm>
          <a:prstGeom prst="line">
            <a:avLst/>
          </a:prstGeom>
          <a:noFill/>
          <a:ln w="13970">
            <a:solidFill>
              <a:srgbClr val="E6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4300" y="6393180"/>
            <a:ext cx="251460" cy="259080"/>
          </a:xfrm>
          <a:prstGeom prst="roundRect">
            <a:avLst>
              <a:gd name="adj" fmla="val 15152"/>
            </a:avLst>
          </a:prstGeom>
          <a:solidFill>
            <a:srgbClr val="C80065"/>
          </a:solidFill>
          <a:ln w="12700">
            <a:solidFill>
              <a:srgbClr val="C80065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14300" y="6400800"/>
            <a:ext cx="2514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464820" y="0"/>
            <a:ext cx="11727180" cy="381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08660" y="129540"/>
            <a:ext cx="4724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VOIS</a:t>
            </a:r>
            <a:endParaRPr lang="en-US" sz="1725" dirty="0"/>
          </a:p>
        </p:txBody>
      </p:sp>
      <p:sp>
        <p:nvSpPr>
          <p:cNvPr id="43" name="Text 41"/>
          <p:cNvSpPr txBox="1"/>
          <p:nvPr/>
        </p:nvSpPr>
        <p:spPr>
          <a:xfrm>
            <a:off x="1150620" y="129540"/>
            <a:ext cx="6248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E6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Shield</a:t>
            </a:r>
            <a:endParaRPr lang="en-US" sz="1725" dirty="0"/>
          </a:p>
        </p:txBody>
      </p:sp>
      <p:sp>
        <p:nvSpPr>
          <p:cNvPr id="44" name="Text 42"/>
          <p:cNvSpPr txBox="1"/>
          <p:nvPr/>
        </p:nvSpPr>
        <p:spPr>
          <a:xfrm>
            <a:off x="1744980" y="129540"/>
            <a:ext cx="12192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25" dirty="0"/>
          </a:p>
        </p:txBody>
      </p:sp>
      <p:sp>
        <p:nvSpPr>
          <p:cNvPr id="45" name="Text 43"/>
          <p:cNvSpPr txBox="1"/>
          <p:nvPr/>
        </p:nvSpPr>
        <p:spPr>
          <a:xfrm>
            <a:off x="9144000" y="129540"/>
            <a:ext cx="2087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Contact:  abhay.hs1@vodafone.com</a:t>
            </a:r>
            <a:endParaRPr lang="en-US" sz="975" dirty="0"/>
          </a:p>
        </p:txBody>
      </p:sp>
      <p:sp>
        <p:nvSpPr>
          <p:cNvPr id="46" name="Shape 44"/>
          <p:cNvSpPr/>
          <p:nvPr/>
        </p:nvSpPr>
        <p:spPr>
          <a:xfrm>
            <a:off x="11353800" y="83820"/>
            <a:ext cx="495300" cy="251460"/>
          </a:xfrm>
          <a:prstGeom prst="roundRect">
            <a:avLst>
              <a:gd name="adj" fmla="val 27273"/>
            </a:avLst>
          </a:prstGeom>
          <a:solidFill>
            <a:srgbClr val="F1F3F7"/>
          </a:solidFill>
          <a:ln w="12700">
            <a:solidFill>
              <a:srgbClr val="F1F3F7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1445240" y="114300"/>
            <a:ext cx="3124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◦   ☾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09600" y="579120"/>
            <a:ext cx="11391900" cy="373380"/>
          </a:xfrm>
          <a:prstGeom prst="roundRect">
            <a:avLst>
              <a:gd name="adj" fmla="val 16327"/>
            </a:avLst>
          </a:prstGeom>
          <a:solidFill>
            <a:srgbClr val="202127"/>
          </a:solidFill>
          <a:ln w="12700">
            <a:solidFill>
              <a:srgbClr val="202127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9600" y="632460"/>
            <a:ext cx="30480" cy="25908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23900" y="624840"/>
            <a:ext cx="3314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Training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8458200" y="655320"/>
            <a:ext cx="3345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D3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assigned learning and stay resilient.</a:t>
            </a:r>
            <a:endParaRPr lang="en-US" sz="975" dirty="0"/>
          </a:p>
        </p:txBody>
      </p:sp>
      <p:sp>
        <p:nvSpPr>
          <p:cNvPr id="52" name="Text 50"/>
          <p:cNvSpPr txBox="1"/>
          <p:nvPr/>
        </p:nvSpPr>
        <p:spPr>
          <a:xfrm>
            <a:off x="11201400" y="6484620"/>
            <a:ext cx="6781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06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723900" y="1127760"/>
            <a:ext cx="53340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30" kern="0" dirty="0">
                <a:solidFill>
                  <a:srgbClr val="899D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COMPLETION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723900" y="1295400"/>
            <a:ext cx="693420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completed</a:t>
            </a:r>
            <a:endParaRPr lang="en-US" sz="2700" dirty="0"/>
          </a:p>
        </p:txBody>
      </p:sp>
      <p:sp>
        <p:nvSpPr>
          <p:cNvPr id="55" name="Text 53"/>
          <p:cNvSpPr txBox="1"/>
          <p:nvPr/>
        </p:nvSpPr>
        <p:spPr>
          <a:xfrm>
            <a:off x="723900" y="1653540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required score was achieved successfully.</a:t>
            </a:r>
            <a:endParaRPr lang="en-US" sz="1125" dirty="0"/>
          </a:p>
        </p:txBody>
      </p:sp>
      <p:sp>
        <p:nvSpPr>
          <p:cNvPr id="56" name="Shape 54"/>
          <p:cNvSpPr/>
          <p:nvPr/>
        </p:nvSpPr>
        <p:spPr>
          <a:xfrm>
            <a:off x="716280" y="1912620"/>
            <a:ext cx="3634740" cy="44196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8680" y="2011680"/>
            <a:ext cx="220980" cy="220980"/>
          </a:xfrm>
          <a:prstGeom prst="roundRect">
            <a:avLst>
              <a:gd name="adj" fmla="val 20690"/>
            </a:avLst>
          </a:prstGeom>
          <a:solidFill>
            <a:srgbClr val="7CDA65"/>
          </a:solidFill>
          <a:ln w="12700">
            <a:solidFill>
              <a:srgbClr val="7CDA65">
                <a:alpha val="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68680" y="2011680"/>
            <a:ext cx="22098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975" dirty="0"/>
          </a:p>
        </p:txBody>
      </p:sp>
      <p:sp>
        <p:nvSpPr>
          <p:cNvPr id="59" name="Text 57"/>
          <p:cNvSpPr txBox="1"/>
          <p:nvPr/>
        </p:nvSpPr>
        <p:spPr>
          <a:xfrm>
            <a:off x="1188720" y="2004060"/>
            <a:ext cx="1783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TRAINED</a:t>
            </a:r>
            <a:endParaRPr lang="en-US" sz="1125" dirty="0"/>
          </a:p>
        </p:txBody>
      </p:sp>
      <p:sp>
        <p:nvSpPr>
          <p:cNvPr id="60" name="Text 58"/>
          <p:cNvSpPr txBox="1"/>
          <p:nvPr/>
        </p:nvSpPr>
        <p:spPr>
          <a:xfrm>
            <a:off x="3116580" y="2042160"/>
            <a:ext cx="10744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298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Completed</a:t>
            </a:r>
            <a:endParaRPr lang="en-US" sz="825" dirty="0"/>
          </a:p>
        </p:txBody>
      </p:sp>
      <p:sp>
        <p:nvSpPr>
          <p:cNvPr id="61" name="Shape 59"/>
          <p:cNvSpPr/>
          <p:nvPr/>
        </p:nvSpPr>
        <p:spPr>
          <a:xfrm>
            <a:off x="4457700" y="1912620"/>
            <a:ext cx="3634740" cy="44196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610100" y="2011680"/>
            <a:ext cx="220980" cy="220980"/>
          </a:xfrm>
          <a:prstGeom prst="roundRect">
            <a:avLst>
              <a:gd name="adj" fmla="val 20690"/>
            </a:avLst>
          </a:prstGeom>
          <a:solidFill>
            <a:srgbClr val="7CDA65"/>
          </a:solidFill>
          <a:ln w="12700">
            <a:solidFill>
              <a:srgbClr val="7CDA65">
                <a:alpha val="0"/>
              </a:srgbClr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610100" y="2011680"/>
            <a:ext cx="22098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975" dirty="0"/>
          </a:p>
        </p:txBody>
      </p:sp>
      <p:sp>
        <p:nvSpPr>
          <p:cNvPr id="64" name="Text 62"/>
          <p:cNvSpPr txBox="1"/>
          <p:nvPr/>
        </p:nvSpPr>
        <p:spPr>
          <a:xfrm>
            <a:off x="4930140" y="2004060"/>
            <a:ext cx="1783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QUIZ</a:t>
            </a:r>
            <a:endParaRPr lang="en-US" sz="1125" dirty="0"/>
          </a:p>
        </p:txBody>
      </p:sp>
      <p:sp>
        <p:nvSpPr>
          <p:cNvPr id="65" name="Text 63"/>
          <p:cNvSpPr txBox="1"/>
          <p:nvPr/>
        </p:nvSpPr>
        <p:spPr>
          <a:xfrm>
            <a:off x="6858000" y="2042160"/>
            <a:ext cx="10744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298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Completed</a:t>
            </a:r>
            <a:endParaRPr lang="en-US" sz="825" dirty="0"/>
          </a:p>
        </p:txBody>
      </p:sp>
      <p:sp>
        <p:nvSpPr>
          <p:cNvPr id="66" name="Shape 64"/>
          <p:cNvSpPr/>
          <p:nvPr/>
        </p:nvSpPr>
        <p:spPr>
          <a:xfrm>
            <a:off x="8206740" y="1912620"/>
            <a:ext cx="3634740" cy="441960"/>
          </a:xfrm>
          <a:prstGeom prst="roundRect">
            <a:avLst>
              <a:gd name="adj" fmla="val 17241"/>
            </a:avLst>
          </a:prstGeom>
          <a:solidFill>
            <a:srgbClr val="202127"/>
          </a:solidFill>
          <a:ln w="12700">
            <a:solidFill>
              <a:srgbClr val="202127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359140" y="2011680"/>
            <a:ext cx="220980" cy="220980"/>
          </a:xfrm>
          <a:prstGeom prst="roundRect">
            <a:avLst>
              <a:gd name="adj" fmla="val 20690"/>
            </a:avLst>
          </a:prstGeom>
          <a:solidFill>
            <a:srgbClr val="7CDA65"/>
          </a:solidFill>
          <a:ln w="12700">
            <a:solidFill>
              <a:srgbClr val="7CDA65">
                <a:alpha val="0"/>
              </a:srgbClr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359140" y="2011680"/>
            <a:ext cx="22098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75" dirty="0"/>
          </a:p>
        </p:txBody>
      </p:sp>
      <p:sp>
        <p:nvSpPr>
          <p:cNvPr id="69" name="Text 67"/>
          <p:cNvSpPr txBox="1"/>
          <p:nvPr/>
        </p:nvSpPr>
        <p:spPr>
          <a:xfrm>
            <a:off x="8679180" y="2004060"/>
            <a:ext cx="1783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COMPLETION</a:t>
            </a:r>
            <a:endParaRPr lang="en-US" sz="1125" dirty="0"/>
          </a:p>
        </p:txBody>
      </p:sp>
      <p:sp>
        <p:nvSpPr>
          <p:cNvPr id="70" name="Text 68"/>
          <p:cNvSpPr txBox="1"/>
          <p:nvPr/>
        </p:nvSpPr>
        <p:spPr>
          <a:xfrm>
            <a:off x="10607040" y="2042160"/>
            <a:ext cx="10744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CDD2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step</a:t>
            </a:r>
            <a:endParaRPr lang="en-US" sz="825" dirty="0"/>
          </a:p>
        </p:txBody>
      </p:sp>
      <p:sp>
        <p:nvSpPr>
          <p:cNvPr id="71" name="Shape 69"/>
          <p:cNvSpPr/>
          <p:nvPr/>
        </p:nvSpPr>
        <p:spPr>
          <a:xfrm>
            <a:off x="716280" y="2491740"/>
            <a:ext cx="1607820" cy="845820"/>
          </a:xfrm>
          <a:prstGeom prst="roundRect">
            <a:avLst>
              <a:gd name="adj" fmla="val 19820"/>
            </a:avLst>
          </a:prstGeom>
          <a:solidFill>
            <a:srgbClr val="EAE3FB"/>
          </a:solidFill>
          <a:ln w="12700">
            <a:solidFill>
              <a:srgbClr val="EAE3FB">
                <a:alpha val="0"/>
              </a:srgbClr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45820" y="2613660"/>
            <a:ext cx="1295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Completion</a:t>
            </a:r>
            <a:endParaRPr lang="en-US" sz="1725" dirty="0"/>
          </a:p>
          <a:p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Passed</a:t>
            </a:r>
            <a:endParaRPr lang="en-US" sz="1725" dirty="0"/>
          </a:p>
        </p:txBody>
      </p:sp>
      <p:sp>
        <p:nvSpPr>
          <p:cNvPr id="73" name="Shape 71"/>
          <p:cNvSpPr/>
          <p:nvPr/>
        </p:nvSpPr>
        <p:spPr>
          <a:xfrm>
            <a:off x="2400300" y="2491740"/>
            <a:ext cx="9395460" cy="845820"/>
          </a:xfrm>
          <a:prstGeom prst="roundRect">
            <a:avLst>
              <a:gd name="adj" fmla="val 180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2598420" y="2621280"/>
            <a:ext cx="8793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 completed</a:t>
            </a:r>
            <a:endParaRPr lang="en-US" sz="1500" dirty="0"/>
          </a:p>
        </p:txBody>
      </p:sp>
      <p:sp>
        <p:nvSpPr>
          <p:cNvPr id="75" name="Text 73"/>
          <p:cNvSpPr txBox="1"/>
          <p:nvPr/>
        </p:nvSpPr>
        <p:spPr>
          <a:xfrm>
            <a:off x="2598420" y="3025140"/>
            <a:ext cx="5943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learning module and knowledge check are complete.</a:t>
            </a:r>
            <a:endParaRPr lang="en-US" sz="975" dirty="0"/>
          </a:p>
        </p:txBody>
      </p:sp>
      <p:sp>
        <p:nvSpPr>
          <p:cNvPr id="76" name="Shape 74"/>
          <p:cNvSpPr/>
          <p:nvPr/>
        </p:nvSpPr>
        <p:spPr>
          <a:xfrm>
            <a:off x="716280" y="2491740"/>
            <a:ext cx="1607820" cy="845820"/>
          </a:xfrm>
          <a:prstGeom prst="roundRect">
            <a:avLst>
              <a:gd name="adj" fmla="val 19820"/>
            </a:avLst>
          </a:prstGeom>
          <a:solidFill>
            <a:srgbClr val="E4F4DF"/>
          </a:solidFill>
          <a:ln w="12700">
            <a:solidFill>
              <a:srgbClr val="E4F4DF">
                <a:alpha val="0"/>
              </a:srgbClr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845820" y="26289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Completion</a:t>
            </a:r>
            <a:endParaRPr lang="en-US" sz="1725" dirty="0"/>
          </a:p>
          <a:p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Passed</a:t>
            </a:r>
            <a:endParaRPr lang="en-US" sz="1725" dirty="0"/>
          </a:p>
        </p:txBody>
      </p:sp>
      <p:sp>
        <p:nvSpPr>
          <p:cNvPr id="78" name="Shape 76"/>
          <p:cNvSpPr/>
          <p:nvPr/>
        </p:nvSpPr>
        <p:spPr>
          <a:xfrm>
            <a:off x="716280" y="3474720"/>
            <a:ext cx="11079480" cy="2758440"/>
          </a:xfrm>
          <a:prstGeom prst="roundRect">
            <a:avLst>
              <a:gd name="adj" fmla="val 10497"/>
            </a:avLst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76300" y="3649980"/>
            <a:ext cx="6804660" cy="2377440"/>
          </a:xfrm>
          <a:prstGeom prst="roundRect">
            <a:avLst>
              <a:gd name="adj" fmla="val 112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818120" y="3649980"/>
            <a:ext cx="3817620" cy="2377440"/>
          </a:xfrm>
          <a:prstGeom prst="roundRect">
            <a:avLst>
              <a:gd name="adj" fmla="val 112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1" name="Image 0" descr="/mnt/data/training_assets/success_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787140"/>
            <a:ext cx="2034540" cy="2034540"/>
          </a:xfrm>
          <a:prstGeom prst="rect">
            <a:avLst/>
          </a:prstGeom>
        </p:spPr>
      </p:pic>
      <p:sp>
        <p:nvSpPr>
          <p:cNvPr id="82" name="Text 79"/>
          <p:cNvSpPr txBox="1"/>
          <p:nvPr/>
        </p:nvSpPr>
        <p:spPr>
          <a:xfrm>
            <a:off x="3208020" y="3977640"/>
            <a:ext cx="42138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Shielded!</a:t>
            </a:r>
            <a:endParaRPr lang="en-US" sz="2850" dirty="0"/>
          </a:p>
        </p:txBody>
      </p:sp>
      <p:sp>
        <p:nvSpPr>
          <p:cNvPr id="83" name="Text 80"/>
          <p:cNvSpPr txBox="1"/>
          <p:nvPr/>
        </p:nvSpPr>
        <p:spPr>
          <a:xfrm>
            <a:off x="3208020" y="4465320"/>
            <a:ext cx="4099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achieved 80% and completed the training.</a:t>
            </a:r>
            <a:endParaRPr lang="en-US" sz="1125" dirty="0"/>
          </a:p>
        </p:txBody>
      </p:sp>
      <p:sp>
        <p:nvSpPr>
          <p:cNvPr id="84" name="Shape 81"/>
          <p:cNvSpPr/>
          <p:nvPr/>
        </p:nvSpPr>
        <p:spPr>
          <a:xfrm>
            <a:off x="3208020" y="4876800"/>
            <a:ext cx="1120140" cy="289560"/>
          </a:xfrm>
          <a:prstGeom prst="roundRect">
            <a:avLst>
              <a:gd name="adj" fmla="val 23684"/>
            </a:avLst>
          </a:prstGeom>
          <a:solidFill>
            <a:srgbClr val="E4F4DF"/>
          </a:solidFill>
          <a:ln w="12700">
            <a:solidFill>
              <a:srgbClr val="E4F4DF">
                <a:alpha val="0"/>
              </a:srgbClr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3261360" y="4884420"/>
            <a:ext cx="101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298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8/10 correct</a:t>
            </a:r>
            <a:endParaRPr lang="en-US" sz="975" dirty="0"/>
          </a:p>
        </p:txBody>
      </p:sp>
      <p:sp>
        <p:nvSpPr>
          <p:cNvPr id="86" name="Shape 83"/>
          <p:cNvSpPr/>
          <p:nvPr/>
        </p:nvSpPr>
        <p:spPr>
          <a:xfrm>
            <a:off x="3208020" y="5341620"/>
            <a:ext cx="2293620" cy="396240"/>
          </a:xfrm>
          <a:prstGeom prst="roundRect">
            <a:avLst>
              <a:gd name="adj" fmla="val 21154"/>
            </a:avLst>
          </a:prstGeom>
          <a:solidFill>
            <a:srgbClr val="7CDA65"/>
          </a:solidFill>
          <a:ln w="12700">
            <a:solidFill>
              <a:srgbClr val="7CDA65">
                <a:alpha val="0"/>
              </a:srgbClr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3284220" y="5349240"/>
            <a:ext cx="21412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 certificate  ↓</a:t>
            </a:r>
            <a:endParaRPr lang="en-US" sz="1050" dirty="0"/>
          </a:p>
        </p:txBody>
      </p:sp>
      <p:sp>
        <p:nvSpPr>
          <p:cNvPr id="88" name="Text 85"/>
          <p:cNvSpPr txBox="1"/>
          <p:nvPr/>
        </p:nvSpPr>
        <p:spPr>
          <a:xfrm>
            <a:off x="8054340" y="3855720"/>
            <a:ext cx="31851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 summary</a:t>
            </a:r>
            <a:endParaRPr lang="en-US" sz="1725" dirty="0"/>
          </a:p>
        </p:txBody>
      </p:sp>
      <p:sp>
        <p:nvSpPr>
          <p:cNvPr id="89" name="Text 86"/>
          <p:cNvSpPr txBox="1"/>
          <p:nvPr/>
        </p:nvSpPr>
        <p:spPr>
          <a:xfrm>
            <a:off x="8054340" y="4244340"/>
            <a:ext cx="20802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score</a:t>
            </a:r>
            <a:endParaRPr lang="en-US" sz="975" dirty="0"/>
          </a:p>
        </p:txBody>
      </p:sp>
      <p:sp>
        <p:nvSpPr>
          <p:cNvPr id="90" name="Text 87"/>
          <p:cNvSpPr txBox="1"/>
          <p:nvPr/>
        </p:nvSpPr>
        <p:spPr>
          <a:xfrm>
            <a:off x="10195560" y="4244340"/>
            <a:ext cx="11353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298A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</a:t>
            </a:r>
            <a:endParaRPr lang="en-US" sz="1125" dirty="0"/>
          </a:p>
        </p:txBody>
      </p:sp>
      <p:sp>
        <p:nvSpPr>
          <p:cNvPr id="91" name="Shape 88"/>
          <p:cNvSpPr/>
          <p:nvPr/>
        </p:nvSpPr>
        <p:spPr>
          <a:xfrm>
            <a:off x="8054340" y="4495800"/>
            <a:ext cx="3261360" cy="0"/>
          </a:xfrm>
          <a:prstGeom prst="line">
            <a:avLst/>
          </a:prstGeom>
          <a:noFill/>
          <a:ln w="7620">
            <a:solidFill>
              <a:srgbClr val="EDF1F5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8054340" y="4564380"/>
            <a:ext cx="20802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answers</a:t>
            </a:r>
            <a:endParaRPr lang="en-US" sz="975" dirty="0"/>
          </a:p>
        </p:txBody>
      </p:sp>
      <p:sp>
        <p:nvSpPr>
          <p:cNvPr id="93" name="Text 90"/>
          <p:cNvSpPr txBox="1"/>
          <p:nvPr/>
        </p:nvSpPr>
        <p:spPr>
          <a:xfrm>
            <a:off x="10195560" y="4564380"/>
            <a:ext cx="11353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of 10</a:t>
            </a:r>
            <a:endParaRPr lang="en-US" sz="1125" dirty="0"/>
          </a:p>
        </p:txBody>
      </p:sp>
      <p:sp>
        <p:nvSpPr>
          <p:cNvPr id="94" name="Shape 91"/>
          <p:cNvSpPr/>
          <p:nvPr/>
        </p:nvSpPr>
        <p:spPr>
          <a:xfrm>
            <a:off x="8054340" y="4815840"/>
            <a:ext cx="3261360" cy="0"/>
          </a:xfrm>
          <a:prstGeom prst="line">
            <a:avLst/>
          </a:prstGeom>
          <a:noFill/>
          <a:ln w="7620">
            <a:solidFill>
              <a:srgbClr val="EDF1F5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8054340" y="4884420"/>
            <a:ext cx="20802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points</a:t>
            </a:r>
            <a:endParaRPr lang="en-US" sz="975" dirty="0"/>
          </a:p>
        </p:txBody>
      </p:sp>
      <p:sp>
        <p:nvSpPr>
          <p:cNvPr id="96" name="Text 93"/>
          <p:cNvSpPr txBox="1"/>
          <p:nvPr/>
        </p:nvSpPr>
        <p:spPr>
          <a:xfrm>
            <a:off x="10195560" y="4884420"/>
            <a:ext cx="11353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+25</a:t>
            </a:r>
            <a:endParaRPr lang="en-US" sz="1125" dirty="0"/>
          </a:p>
        </p:txBody>
      </p:sp>
      <p:sp>
        <p:nvSpPr>
          <p:cNvPr id="97" name="Shape 94"/>
          <p:cNvSpPr/>
          <p:nvPr/>
        </p:nvSpPr>
        <p:spPr>
          <a:xfrm>
            <a:off x="8054340" y="5135880"/>
            <a:ext cx="3261360" cy="0"/>
          </a:xfrm>
          <a:prstGeom prst="line">
            <a:avLst/>
          </a:prstGeom>
          <a:noFill/>
          <a:ln w="7620">
            <a:solidFill>
              <a:srgbClr val="EDF1F5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8054340" y="5204460"/>
            <a:ext cx="20802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points</a:t>
            </a:r>
            <a:endParaRPr lang="en-US" sz="975" dirty="0"/>
          </a:p>
        </p:txBody>
      </p:sp>
      <p:sp>
        <p:nvSpPr>
          <p:cNvPr id="99" name="Text 96"/>
          <p:cNvSpPr txBox="1"/>
          <p:nvPr/>
        </p:nvSpPr>
        <p:spPr>
          <a:xfrm>
            <a:off x="10195560" y="5204460"/>
            <a:ext cx="11353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+25</a:t>
            </a:r>
            <a:endParaRPr lang="en-US" sz="1125" dirty="0"/>
          </a:p>
        </p:txBody>
      </p:sp>
      <p:sp>
        <p:nvSpPr>
          <p:cNvPr id="100" name="Shape 97"/>
          <p:cNvSpPr/>
          <p:nvPr/>
        </p:nvSpPr>
        <p:spPr>
          <a:xfrm>
            <a:off x="8054340" y="5455920"/>
            <a:ext cx="3261360" cy="0"/>
          </a:xfrm>
          <a:prstGeom prst="line">
            <a:avLst/>
          </a:prstGeom>
          <a:noFill/>
          <a:ln w="7620">
            <a:solidFill>
              <a:srgbClr val="EDF1F5"/>
            </a:solidFill>
            <a:prstDash val="solid"/>
          </a:ln>
        </p:spPr>
      </p:sp>
      <p:sp>
        <p:nvSpPr>
          <p:cNvPr id="101" name="Text 98"/>
          <p:cNvSpPr txBox="1"/>
          <p:nvPr/>
        </p:nvSpPr>
        <p:spPr>
          <a:xfrm>
            <a:off x="8054340" y="5524500"/>
            <a:ext cx="20802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points</a:t>
            </a:r>
            <a:endParaRPr lang="en-US" sz="975" dirty="0"/>
          </a:p>
        </p:txBody>
      </p:sp>
      <p:sp>
        <p:nvSpPr>
          <p:cNvPr id="102" name="Text 99"/>
          <p:cNvSpPr txBox="1"/>
          <p:nvPr/>
        </p:nvSpPr>
        <p:spPr>
          <a:xfrm>
            <a:off x="10195560" y="5524500"/>
            <a:ext cx="11353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+50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VOISShield My Training – Polished Six Screens</dc:title>
  <dc:subject>VOISShield My Training six screens, polished to V2 design guidelines</dc:subject>
  <dc:creator>OpenAI</dc:creator>
  <cp:lastModifiedBy>OpenAI</cp:lastModifiedBy>
  <cp:revision>1</cp:revision>
  <dcterms:created xsi:type="dcterms:W3CDTF">2026-10-08T12:23:41Z</dcterms:created>
  <dcterms:modified xsi:type="dcterms:W3CDTF">2026-10-08T12:23:41Z</dcterms:modified>
</cp:coreProperties>
</file>